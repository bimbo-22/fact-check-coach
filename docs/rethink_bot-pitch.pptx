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8" r:id="rId11"/>
    <p:sldId id="267" r:id="rId12"/>
    <p:sldId id="266" r:id="rId13"/>
    <p:sldId id="269" r:id="rId14"/>
    <p:sldId id="270" r:id="rId15"/>
    <p:sldId id="263" r:id="rId16"/>
    <p:sldId id="264" r:id="rId17"/>
    <p:sldId id="265" r:id="rId18"/>
  </p:sldIdLst>
  <p:sldSz cx="12192000" cy="6858000"/>
  <p:notesSz cx="6858000" cy="12192000"/>
  <p:embeddedFontLst>
    <p:embeddedFont>
      <p:font typeface="Inter" panose="020B0604020202020204"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159" y="8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567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while you walk up and get set. Don’t present it: no team intro, no reading names. The jury can read them. As soon as you’re ready, click straight to the four posts and start with “Four posts from Instagram…”.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No greeting, no team intro. Start straight away. Say: “Four posts from Instagram. Hands up if you believe the first one… the second… the third… the fourth.” Go fast, about 3 seconds per post. Roughly count out loud. HOW TO FILL: replace each [Photo] box with your image (drag it onto the box in the editor, then delete the placeholder), and fill in account, likes, caption and comments. Keep captions to one or two lines.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0:25–0:35. Say: “All four were fake. We made them in five minutes. And most of you believed at least one. That’s not because you’re naive. That’s how fast a believable post works.” If you mix real and fake posts, change the headline, e.g. “Only one was real.”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0:35–1:00. Say: “More than half of 18 to 24 year olds now get their news mainly from social media, video or AI. Their biggest platform for news: Instagram. And last year Meta stopped third-party fact-checking there in the US. When a post is false, the correction is buried somewhere in the comments.” Do NOT say Meta’s change applies worldwide. It’s the 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1:00–1:15. Say: “The obvious fix is a fact-checker. But fact-checkers hand you a verdict. The AI decides, you trust it, and soon you need it for every single post. Research from Microsoft and Carnegie Mellon shows: the more people trust AI, the less critically they think. That’s exactly the ‘falling asleep behind the wheel’ effect from today’s brief.”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1:15–1:35. Say: “So we flipped it. You think first: the coach asks you one question that makes you look at the post again. Only then you see the evidence: what six named outlets like Reuters, AP and BBC Verify say, with quotes checked word for word. And you leave with one tip you can use next time, without us.” Then: “Let me show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86CB8-E76C-6EED-5372-2D929859A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ED99-D875-30FB-5A42-63DAF0E90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D3141C-23CF-E094-4C50-3DCA0A5FF229}"/>
              </a:ext>
            </a:extLst>
          </p:cNvPr>
          <p:cNvSpPr>
            <a:spLocks noGrp="1"/>
          </p:cNvSpPr>
          <p:nvPr>
            <p:ph type="body" idx="1"/>
          </p:nvPr>
        </p:nvSpPr>
        <p:spPr/>
        <p:txBody>
          <a:bodyPr/>
          <a:lstStyle/>
          <a:p>
            <a:r>
              <a:rPr lang="en-US" dirty="0"/>
              <a:t>1:35–2:25. Switch to the mirrored phone, or play the recording in the frame on the right. 1. Instagram post → Share → Telegram. “A caption, some emojis, ‘link in bio’. This is how most people see news.” 2. Bot shows the claim and a question. “It doesn’t tell me anything yet. It asks me.” 3. Answer → verdict, confidence, “4 of 6 outlets cover it”, quotes, tip. “Every quote was checked word for word. If the AI makes one up, we throw it out.” IF ANYTHING BREAKS: “Here’s the offline version, same pipeline with saved data.” Run make demo. Apologise once at most. IF INSTAGRAM BLOCKS THE LINK: “Instagram doesn’t always let tools read posts, so it just asks you to paste it. We don’t scrape or log in.” Demo claim: a REAL claim that at least 2 of the 6 outlets have fact-checked, not one of the invented posts. HOW TO FILL: drag a screen recording or screenshot onto the dashed frame in the editor, then delete the placeholder.</a:t>
            </a:r>
          </a:p>
        </p:txBody>
      </p:sp>
      <p:sp>
        <p:nvSpPr>
          <p:cNvPr id="4" name="Slide Number Placeholder 3">
            <a:extLst>
              <a:ext uri="{FF2B5EF4-FFF2-40B4-BE49-F238E27FC236}">
                <a16:creationId xmlns:a16="http://schemas.microsoft.com/office/drawing/2014/main" id="{BA4EB15B-EC8C-8EF8-BF35-C1F7A747F61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82821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75458-DE99-CC11-12C1-905395B30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B97A7-F4F9-D753-1D31-EACEAD88B0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4D906C-D244-937F-93BD-DB94141A8840}"/>
              </a:ext>
            </a:extLst>
          </p:cNvPr>
          <p:cNvSpPr>
            <a:spLocks noGrp="1"/>
          </p:cNvSpPr>
          <p:nvPr>
            <p:ph type="body" idx="1"/>
          </p:nvPr>
        </p:nvSpPr>
        <p:spPr/>
        <p:txBody>
          <a:bodyPr/>
          <a:lstStyle/>
          <a:p>
            <a:r>
              <a:rPr lang="en-US" dirty="0"/>
              <a:t>1:35–2:25. Switch to the mirrored phone, or play the recording in the frame on the right. 1. Instagram post → Share → Telegram. “A caption, some emojis, ‘link in bio’. This is how most people see news.” 2. Bot shows the claim and a question. “It doesn’t tell me anything yet. It asks me.” 3. Answer → verdict, confidence, “4 of 6 outlets cover it”, quotes, tip. “Every quote was checked word for word. If the AI makes one up, we throw it out.” IF ANYTHING BREAKS: “Here’s the offline version, same pipeline with saved data.” Run make demo. Apologise once at most. IF INSTAGRAM BLOCKS THE LINK: “Instagram doesn’t always let tools read posts, so it just asks you to paste it. We don’t scrape or log in.” Demo claim: a REAL claim that at least 2 of the 6 outlets have fact-checked, not one of the invented posts. HOW TO FILL: drag a screen recording or screenshot onto the dashed frame in the editor, then delete the placeholder.</a:t>
            </a:r>
          </a:p>
        </p:txBody>
      </p:sp>
      <p:sp>
        <p:nvSpPr>
          <p:cNvPr id="4" name="Slide Number Placeholder 3">
            <a:extLst>
              <a:ext uri="{FF2B5EF4-FFF2-40B4-BE49-F238E27FC236}">
                <a16:creationId xmlns:a16="http://schemas.microsoft.com/office/drawing/2014/main" id="{BF2D4192-6F9E-B0D8-296C-7ADE5C54D59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39326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8E643-81CB-C6D3-E5E6-D4259E2AE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3330A-C624-A258-9296-08036B9E5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BD2F6-F696-51F7-B97A-0F591BD4624D}"/>
              </a:ext>
            </a:extLst>
          </p:cNvPr>
          <p:cNvSpPr>
            <a:spLocks noGrp="1"/>
          </p:cNvSpPr>
          <p:nvPr>
            <p:ph type="body" idx="1"/>
          </p:nvPr>
        </p:nvSpPr>
        <p:spPr/>
        <p:txBody>
          <a:bodyPr/>
          <a:lstStyle/>
          <a:p>
            <a:r>
              <a:rPr lang="en-US" dirty="0"/>
              <a:t>1:35–2:25. Switch to the mirrored phone, or play the recording in the frame on the right. 1. Instagram post → Share → Telegram. “A caption, some emojis, ‘link in bio’. This is how most people see news.” 2. Bot shows the claim and a question. “It doesn’t tell me anything yet. It asks me.” 3. Answer → verdict, confidence, “4 of 6 outlets cover it”, quotes, tip. “Every quote was checked word for word. If the AI makes one up, we throw it out.” IF ANYTHING BREAKS: “Here’s the offline version, same pipeline with saved data.” Run make demo. Apologise once at most. IF INSTAGRAM BLOCKS THE LINK: “Instagram doesn’t always let tools read posts, so it just asks you to paste it. We don’t scrape or log in.” Demo claim: a REAL claim that at least 2 of the 6 outlets have fact-checked, not one of the invented posts. HOW TO FILL: drag a screen recording or screenshot onto the dashed frame in the editor, then delete the placeholder.</a:t>
            </a:r>
          </a:p>
        </p:txBody>
      </p:sp>
      <p:sp>
        <p:nvSpPr>
          <p:cNvPr id="4" name="Slide Number Placeholder 3">
            <a:extLst>
              <a:ext uri="{FF2B5EF4-FFF2-40B4-BE49-F238E27FC236}">
                <a16:creationId xmlns:a16="http://schemas.microsoft.com/office/drawing/2014/main" id="{C406F6D1-A786-4163-844E-1D1686D1232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026887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40C0C-C0AE-DAD1-F2B6-4AD1A48CD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89951-95EC-E736-60C6-2462B1EF9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6AAB6-C49B-7AD1-8AA8-59B171F234E1}"/>
              </a:ext>
            </a:extLst>
          </p:cNvPr>
          <p:cNvSpPr>
            <a:spLocks noGrp="1"/>
          </p:cNvSpPr>
          <p:nvPr>
            <p:ph type="body" idx="1"/>
          </p:nvPr>
        </p:nvSpPr>
        <p:spPr/>
        <p:txBody>
          <a:bodyPr/>
          <a:lstStyle/>
          <a:p>
            <a:r>
              <a:rPr lang="en-US" dirty="0"/>
              <a:t>1:35–2:25. Switch to the mirrored phone, or play the recording in the frame on the right. 1. Instagram post → Share → Telegram. “A caption, some emojis, ‘link in bio’. This is how most people see news.” 2. Bot shows the claim and a question. “It doesn’t tell me anything yet. It asks me.” 3. Answer → verdict, confidence, “4 of 6 outlets cover it”, quotes, tip. “Every quote was checked word for word. If the AI makes one up, we throw it out.” IF ANYTHING BREAKS: “Here’s the offline version, same pipeline with saved data.” Run make demo. Apologise once at most. IF INSTAGRAM BLOCKS THE LINK: “Instagram doesn’t always let tools read posts, so it just asks you to paste it. We don’t scrape or log in.” Demo claim: a REAL claim that at least 2 of the 6 outlets have fact-checked, not one of the invented posts. HOW TO FILL: drag a screen recording or screenshot onto the dashed frame in the editor, then delete the placeholder.</a:t>
            </a:r>
          </a:p>
        </p:txBody>
      </p:sp>
      <p:sp>
        <p:nvSpPr>
          <p:cNvPr id="4" name="Slide Number Placeholder 3">
            <a:extLst>
              <a:ext uri="{FF2B5EF4-FFF2-40B4-BE49-F238E27FC236}">
                <a16:creationId xmlns:a16="http://schemas.microsoft.com/office/drawing/2014/main" id="{91FDCDA5-5942-10E6-8BC2-BA54794977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44838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232-8893-142C-EF54-CB8C648E4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2B3B0-B011-9D03-EDCC-0D48D11AD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256016-F653-15C6-1FD2-32B7C1BA7927}"/>
              </a:ext>
            </a:extLst>
          </p:cNvPr>
          <p:cNvSpPr>
            <a:spLocks noGrp="1"/>
          </p:cNvSpPr>
          <p:nvPr>
            <p:ph type="body" idx="1"/>
          </p:nvPr>
        </p:nvSpPr>
        <p:spPr/>
        <p:txBody>
          <a:bodyPr/>
          <a:lstStyle/>
          <a:p>
            <a:r>
              <a:rPr lang="en-US" dirty="0"/>
              <a:t>1:35–2:25. Switch to the mirrored phone, or play the recording in the frame on the right. 1. Instagram post → Share → Telegram. “A caption, some emojis, ‘link in bio’. This is how most people see news.” 2. Bot shows the claim and a question. “It doesn’t tell me anything yet. It asks me.” 3. Answer → verdict, confidence, “4 of 6 outlets cover it”, quotes, tip. “Every quote was checked word for word. If the AI makes one up, we throw it out.” IF ANYTHING BREAKS: “Here’s the offline version, same pipeline with saved data.” Run make demo. Apologise once at most. IF INSTAGRAM BLOCKS THE LINK: “Instagram doesn’t always let tools read posts, so it just asks you to paste it. We don’t scrape or log in.” Demo claim: a REAL claim that at least 2 of the 6 outlets have fact-checked, not one of the invented posts. HOW TO FILL: drag a screen recording or screenshot onto the dashed frame in the editor, then delete the placeholder.</a:t>
            </a:r>
          </a:p>
        </p:txBody>
      </p:sp>
      <p:sp>
        <p:nvSpPr>
          <p:cNvPr id="4" name="Slide Number Placeholder 3">
            <a:extLst>
              <a:ext uri="{FF2B5EF4-FFF2-40B4-BE49-F238E27FC236}">
                <a16:creationId xmlns:a16="http://schemas.microsoft.com/office/drawing/2014/main" id="{F9EC6821-0EFE-0335-896D-BED0159A684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39278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2:25–2:40. Say: “We built this straight from your three dimensions. You stay engaged, because you think first. Your skills grow, because every check ends with a tip. And it’s trustworthy, because the AI never decides what’s true. It only reads the articles we fetched, and every quote is matched word for word. If it hallucinates a quote, we throw it out and show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2:40–2:52. Say: “Next, we go beyond captions: videos, voice memos forwarded in group chats, and regional news outlets, so local claims get checked too. And we measure success differently from everyone else: not by how much you use us, but by how much better your own judgement gets.”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2:52–3:00. Say slowly: “Earlier, most of you believed at least one of our fakes. With rethink_bot, next time fewer of you will. A fact-checker that trains you to need it less. Thank you.” Stop talking. Don’t add “any questions?”. Let the last line land.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BF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557015"/>
            <a:ext cx="10045700" cy="1005780"/>
          </a:xfrm>
          <a:prstGeom prst="rect">
            <a:avLst/>
          </a:prstGeom>
          <a:noFill/>
          <a:ln/>
        </p:spPr>
        <p:txBody>
          <a:bodyPr wrap="square" lIns="0" tIns="0" rIns="0" bIns="0" rtlCol="0" anchor="t"/>
          <a:lstStyle>
            <a:lvl1pPr marL="0" indent="0" algn="l">
              <a:lnSpc>
                <a:spcPct val="115000"/>
              </a:lnSpc>
              <a:buNone/>
              <a:defRPr lang="en-US" sz="3600" dirty="0">
                <a:solidFill>
                  <a:srgbClr val="0B2E5E"/>
                </a:solidFill>
                <a:latin typeface="Lexend" pitchFamily="34" charset="0"/>
                <a:ea typeface="Lexend" pitchFamily="34" charset="-122"/>
                <a:cs typeface="Lexen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867596"/>
            <a:ext cx="10566400" cy="3177604"/>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BF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557015"/>
            <a:ext cx="10045700" cy="1005780"/>
          </a:xfrm>
          <a:prstGeom prst="rect">
            <a:avLst/>
          </a:prstGeom>
          <a:noFill/>
          <a:ln/>
        </p:spPr>
        <p:txBody>
          <a:bodyPr wrap="square" lIns="0" tIns="0" rIns="0" bIns="0" rtlCol="0" anchor="t"/>
          <a:lstStyle>
            <a:lvl1pPr marL="0" indent="0" algn="l">
              <a:lnSpc>
                <a:spcPct val="115000"/>
              </a:lnSpc>
              <a:buNone/>
              <a:defRPr lang="en-US" sz="3600" dirty="0">
                <a:solidFill>
                  <a:srgbClr val="0B2E5E"/>
                </a:solidFill>
                <a:latin typeface="Lexend" pitchFamily="34" charset="0"/>
                <a:ea typeface="Lexend" pitchFamily="34" charset="-122"/>
                <a:cs typeface="Lexen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867596"/>
            <a:ext cx="10566400" cy="3177604"/>
          </a:xfrm>
          <a:prstGeom prst="rect">
            <a:avLst/>
          </a:prstGeom>
          <a:noFill/>
          <a:ln/>
        </p:spPr>
        <p:txBody>
          <a:bodyPr wrap="square" lIns="0" tIns="0" rIns="0" bIns="0" rtlCol="0" anchor="t"/>
          <a:lstStyle>
            <a:lvl1pPr marL="0" indent="0" algn="l">
              <a:lnSpc>
                <a:spcPct val="140000"/>
              </a:lnSpc>
              <a:buNone/>
              <a:defRPr lang="en-US" sz="1600" dirty="0">
                <a:solidFill>
                  <a:srgbClr val="141413"/>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BFE"/>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876300"/>
            <a:ext cx="272688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IBM Responsible AI Hackathon</a:t>
            </a:r>
            <a:endParaRPr lang="en-US" sz="1200" dirty="0"/>
          </a:p>
        </p:txBody>
      </p:sp>
      <p:sp>
        <p:nvSpPr>
          <p:cNvPr id="4" name="Text 1"/>
          <p:cNvSpPr/>
          <p:nvPr/>
        </p:nvSpPr>
        <p:spPr>
          <a:xfrm>
            <a:off x="10161191" y="812800"/>
            <a:ext cx="1218009" cy="340320"/>
          </a:xfrm>
          <a:prstGeom prst="roundRect">
            <a:avLst>
              <a:gd name="adj" fmla="val 50000"/>
            </a:avLst>
          </a:prstGeom>
          <a:solidFill>
            <a:srgbClr val="4FC3F7"/>
          </a:solidFill>
          <a:ln/>
        </p:spPr>
        <p:txBody>
          <a:bodyPr wrap="none" lIns="0" tIns="0" rIns="0" bIns="0" rtlCol="0" anchor="ctr">
            <a:normAutofit/>
          </a:bodyPr>
          <a:lstStyle/>
          <a:p>
            <a:pPr marL="0" indent="0" algn="ctr">
              <a:lnSpc>
                <a:spcPts val="1680"/>
              </a:lnSpc>
              <a:buNone/>
            </a:pPr>
            <a:r>
              <a:rPr lang="en-US" sz="1200" b="1" dirty="0">
                <a:solidFill>
                  <a:srgbClr val="0B2E5E"/>
                </a:solidFill>
                <a:latin typeface="Inter" pitchFamily="34" charset="0"/>
                <a:ea typeface="Inter" pitchFamily="34" charset="-122"/>
                <a:cs typeface="Inter" pitchFamily="34" charset="-120"/>
              </a:rPr>
              <a:t>Group Beige</a:t>
            </a:r>
            <a:endParaRPr lang="en-US" sz="1200" dirty="0"/>
          </a:p>
        </p:txBody>
      </p:sp>
      <p:sp>
        <p:nvSpPr>
          <p:cNvPr id="5" name="Text 2"/>
          <p:cNvSpPr>
            <a:spLocks noGrp="1"/>
          </p:cNvSpPr>
          <p:nvPr>
            <p:ph type="title"/>
          </p:nvPr>
        </p:nvSpPr>
        <p:spPr>
          <a:xfrm>
            <a:off x="812800" y="254000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i="0" kern="0" spc="-200" dirty="0">
                <a:solidFill>
                  <a:srgbClr val="0B2E5E"/>
                </a:solidFill>
                <a:latin typeface="Lexend" pitchFamily="34" charset="0"/>
                <a:ea typeface="Lexend" pitchFamily="34" charset="-122"/>
                <a:cs typeface="Lexend" pitchFamily="34" charset="-120"/>
              </a:rPr>
              <a:t>rethink_bot</a:t>
            </a:r>
            <a:endParaRPr lang="en-US" sz="8000" dirty="0"/>
          </a:p>
        </p:txBody>
      </p:sp>
      <p:sp>
        <p:nvSpPr>
          <p:cNvPr id="6" name="Text 3"/>
          <p:cNvSpPr/>
          <p:nvPr/>
        </p:nvSpPr>
        <p:spPr>
          <a:xfrm>
            <a:off x="812800" y="3759200"/>
            <a:ext cx="10883392"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F7FB8"/>
                </a:solidFill>
                <a:latin typeface="Lexend" pitchFamily="34" charset="0"/>
                <a:ea typeface="Lexend" pitchFamily="34" charset="-122"/>
                <a:cs typeface="Lexend" pitchFamily="34" charset="-120"/>
              </a:rPr>
              <a:t>A fact-checker that trains you to need it less.</a:t>
            </a:r>
            <a:endParaRPr lang="en-US" sz="2200" dirty="0"/>
          </a:p>
        </p:txBody>
      </p:sp>
      <p:sp>
        <p:nvSpPr>
          <p:cNvPr id="7" name="Shape 4"/>
          <p:cNvSpPr/>
          <p:nvPr/>
        </p:nvSpPr>
        <p:spPr>
          <a:xfrm>
            <a:off x="812800" y="5509270"/>
            <a:ext cx="2527300" cy="535930"/>
          </a:xfrm>
          <a:prstGeom prst="roundRect">
            <a:avLst>
              <a:gd name="adj" fmla="val 23697"/>
            </a:avLst>
          </a:prstGeom>
          <a:solidFill>
            <a:srgbClr val="FFFFFF"/>
          </a:solidFill>
          <a:ln/>
          <a:effectLst>
            <a:outerShdw blurRad="254000" dist="76200" dir="5400000" algn="bl" rotWithShape="0">
              <a:srgbClr val="0B2E5E">
                <a:alpha val="8000"/>
              </a:srgbClr>
            </a:outerShdw>
          </a:effectLst>
        </p:spPr>
        <p:txBody>
          <a:bodyPr/>
          <a:lstStyle/>
          <a:p>
            <a:endParaRPr lang="sv-SE"/>
          </a:p>
        </p:txBody>
      </p:sp>
      <p:sp>
        <p:nvSpPr>
          <p:cNvPr id="8" name="Shape 5"/>
          <p:cNvSpPr/>
          <p:nvPr/>
        </p:nvSpPr>
        <p:spPr>
          <a:xfrm>
            <a:off x="990600" y="5726410"/>
            <a:ext cx="101600" cy="101600"/>
          </a:xfrm>
          <a:prstGeom prst="roundRect">
            <a:avLst>
              <a:gd name="adj" fmla="val 50000"/>
            </a:avLst>
          </a:prstGeom>
          <a:solidFill>
            <a:srgbClr val="4FC3F7"/>
          </a:solidFill>
          <a:ln/>
        </p:spPr>
        <p:txBody>
          <a:bodyPr/>
          <a:lstStyle/>
          <a:p>
            <a:endParaRPr lang="sv-SE"/>
          </a:p>
        </p:txBody>
      </p:sp>
      <p:sp>
        <p:nvSpPr>
          <p:cNvPr id="9" name="Text 6"/>
          <p:cNvSpPr/>
          <p:nvPr/>
        </p:nvSpPr>
        <p:spPr>
          <a:xfrm>
            <a:off x="1193800" y="5661670"/>
            <a:ext cx="159746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2E5E"/>
                </a:solidFill>
                <a:latin typeface="Inter" pitchFamily="34" charset="0"/>
                <a:ea typeface="Inter" pitchFamily="34" charset="-122"/>
                <a:cs typeface="Inter" pitchFamily="34" charset="-120"/>
              </a:rPr>
              <a:t>Angelica Pippow</a:t>
            </a:r>
            <a:endParaRPr lang="en-US" sz="1300" dirty="0"/>
          </a:p>
        </p:txBody>
      </p:sp>
      <p:sp>
        <p:nvSpPr>
          <p:cNvPr id="10" name="Shape 7"/>
          <p:cNvSpPr/>
          <p:nvPr/>
        </p:nvSpPr>
        <p:spPr>
          <a:xfrm>
            <a:off x="3492500" y="5509270"/>
            <a:ext cx="2527300" cy="535930"/>
          </a:xfrm>
          <a:prstGeom prst="roundRect">
            <a:avLst>
              <a:gd name="adj" fmla="val 23697"/>
            </a:avLst>
          </a:prstGeom>
          <a:solidFill>
            <a:srgbClr val="FFFFFF"/>
          </a:solidFill>
          <a:ln/>
          <a:effectLst>
            <a:outerShdw blurRad="254000" dist="76200" dir="5400000" algn="bl" rotWithShape="0">
              <a:srgbClr val="0B2E5E">
                <a:alpha val="8000"/>
              </a:srgbClr>
            </a:outerShdw>
          </a:effectLst>
        </p:spPr>
        <p:txBody>
          <a:bodyPr/>
          <a:lstStyle/>
          <a:p>
            <a:endParaRPr lang="sv-SE"/>
          </a:p>
        </p:txBody>
      </p:sp>
      <p:sp>
        <p:nvSpPr>
          <p:cNvPr id="11" name="Shape 8"/>
          <p:cNvSpPr/>
          <p:nvPr/>
        </p:nvSpPr>
        <p:spPr>
          <a:xfrm>
            <a:off x="3670300" y="5726410"/>
            <a:ext cx="101600" cy="101600"/>
          </a:xfrm>
          <a:prstGeom prst="roundRect">
            <a:avLst>
              <a:gd name="adj" fmla="val 50000"/>
            </a:avLst>
          </a:prstGeom>
          <a:solidFill>
            <a:srgbClr val="4FC3F7"/>
          </a:solidFill>
          <a:ln/>
        </p:spPr>
        <p:txBody>
          <a:bodyPr/>
          <a:lstStyle/>
          <a:p>
            <a:endParaRPr lang="sv-SE"/>
          </a:p>
        </p:txBody>
      </p:sp>
      <p:sp>
        <p:nvSpPr>
          <p:cNvPr id="12" name="Text 9"/>
          <p:cNvSpPr/>
          <p:nvPr/>
        </p:nvSpPr>
        <p:spPr>
          <a:xfrm>
            <a:off x="3873500" y="5661670"/>
            <a:ext cx="1115913"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2E5E"/>
                </a:solidFill>
                <a:latin typeface="Inter" pitchFamily="34" charset="0"/>
                <a:ea typeface="Inter" pitchFamily="34" charset="-122"/>
                <a:cs typeface="Inter" pitchFamily="34" charset="-120"/>
              </a:rPr>
              <a:t>Tehseen Ali</a:t>
            </a:r>
            <a:endParaRPr lang="en-US" sz="1300" dirty="0"/>
          </a:p>
        </p:txBody>
      </p:sp>
      <p:sp>
        <p:nvSpPr>
          <p:cNvPr id="13" name="Shape 10"/>
          <p:cNvSpPr/>
          <p:nvPr/>
        </p:nvSpPr>
        <p:spPr>
          <a:xfrm>
            <a:off x="6172200" y="5509270"/>
            <a:ext cx="2527300" cy="535930"/>
          </a:xfrm>
          <a:prstGeom prst="roundRect">
            <a:avLst>
              <a:gd name="adj" fmla="val 23697"/>
            </a:avLst>
          </a:prstGeom>
          <a:solidFill>
            <a:srgbClr val="FFFFFF"/>
          </a:solidFill>
          <a:ln/>
          <a:effectLst>
            <a:outerShdw blurRad="254000" dist="76200" dir="5400000" algn="bl" rotWithShape="0">
              <a:srgbClr val="0B2E5E">
                <a:alpha val="8000"/>
              </a:srgbClr>
            </a:outerShdw>
          </a:effectLst>
        </p:spPr>
        <p:txBody>
          <a:bodyPr/>
          <a:lstStyle/>
          <a:p>
            <a:endParaRPr lang="sv-SE"/>
          </a:p>
        </p:txBody>
      </p:sp>
      <p:sp>
        <p:nvSpPr>
          <p:cNvPr id="14" name="Shape 11"/>
          <p:cNvSpPr/>
          <p:nvPr/>
        </p:nvSpPr>
        <p:spPr>
          <a:xfrm>
            <a:off x="6350000" y="5726410"/>
            <a:ext cx="101600" cy="101600"/>
          </a:xfrm>
          <a:prstGeom prst="roundRect">
            <a:avLst>
              <a:gd name="adj" fmla="val 50000"/>
            </a:avLst>
          </a:prstGeom>
          <a:solidFill>
            <a:srgbClr val="4FC3F7"/>
          </a:solidFill>
          <a:ln/>
        </p:spPr>
        <p:txBody>
          <a:bodyPr/>
          <a:lstStyle/>
          <a:p>
            <a:endParaRPr lang="sv-SE"/>
          </a:p>
        </p:txBody>
      </p:sp>
      <p:sp>
        <p:nvSpPr>
          <p:cNvPr id="15" name="Text 12"/>
          <p:cNvSpPr/>
          <p:nvPr/>
        </p:nvSpPr>
        <p:spPr>
          <a:xfrm>
            <a:off x="6553200" y="5661670"/>
            <a:ext cx="198501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2E5E"/>
                </a:solidFill>
                <a:latin typeface="Inter" pitchFamily="34" charset="0"/>
                <a:ea typeface="Inter" pitchFamily="34" charset="-122"/>
                <a:cs typeface="Inter" pitchFamily="34" charset="-120"/>
              </a:rPr>
              <a:t>Abimbola Ogunsakin</a:t>
            </a:r>
            <a:endParaRPr lang="en-US" sz="1300" dirty="0"/>
          </a:p>
        </p:txBody>
      </p:sp>
      <p:sp>
        <p:nvSpPr>
          <p:cNvPr id="16" name="Shape 13"/>
          <p:cNvSpPr/>
          <p:nvPr/>
        </p:nvSpPr>
        <p:spPr>
          <a:xfrm>
            <a:off x="8851900" y="5509270"/>
            <a:ext cx="2527300" cy="535930"/>
          </a:xfrm>
          <a:prstGeom prst="roundRect">
            <a:avLst>
              <a:gd name="adj" fmla="val 23697"/>
            </a:avLst>
          </a:prstGeom>
          <a:solidFill>
            <a:srgbClr val="FFFFFF"/>
          </a:solidFill>
          <a:ln/>
          <a:effectLst>
            <a:outerShdw blurRad="254000" dist="76200" dir="5400000" algn="bl" rotWithShape="0">
              <a:srgbClr val="0B2E5E">
                <a:alpha val="8000"/>
              </a:srgbClr>
            </a:outerShdw>
          </a:effectLst>
        </p:spPr>
        <p:txBody>
          <a:bodyPr/>
          <a:lstStyle/>
          <a:p>
            <a:endParaRPr lang="sv-SE"/>
          </a:p>
        </p:txBody>
      </p:sp>
      <p:sp>
        <p:nvSpPr>
          <p:cNvPr id="17" name="Shape 14"/>
          <p:cNvSpPr/>
          <p:nvPr/>
        </p:nvSpPr>
        <p:spPr>
          <a:xfrm>
            <a:off x="9029700" y="5726410"/>
            <a:ext cx="101600" cy="101600"/>
          </a:xfrm>
          <a:prstGeom prst="roundRect">
            <a:avLst>
              <a:gd name="adj" fmla="val 50000"/>
            </a:avLst>
          </a:prstGeom>
          <a:solidFill>
            <a:srgbClr val="4FC3F7"/>
          </a:solidFill>
          <a:ln/>
        </p:spPr>
        <p:txBody>
          <a:bodyPr/>
          <a:lstStyle/>
          <a:p>
            <a:endParaRPr lang="sv-SE"/>
          </a:p>
        </p:txBody>
      </p:sp>
      <p:sp>
        <p:nvSpPr>
          <p:cNvPr id="18" name="Text 15"/>
          <p:cNvSpPr/>
          <p:nvPr/>
        </p:nvSpPr>
        <p:spPr>
          <a:xfrm>
            <a:off x="9232900" y="5661670"/>
            <a:ext cx="1113651"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2E5E"/>
                </a:solidFill>
                <a:latin typeface="Inter" pitchFamily="34" charset="0"/>
                <a:ea typeface="Inter" pitchFamily="34" charset="-122"/>
                <a:cs typeface="Inter" pitchFamily="34" charset="-120"/>
              </a:rPr>
              <a:t>Mona Imam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E"/>
        </a:solidFill>
        <a:effectLst/>
      </p:bgPr>
    </p:bg>
    <p:spTree>
      <p:nvGrpSpPr>
        <p:cNvPr id="1" name=""/>
        <p:cNvGrpSpPr/>
        <p:nvPr/>
      </p:nvGrpSpPr>
      <p:grpSpPr>
        <a:xfrm>
          <a:off x="0" y="0"/>
          <a:ext cx="0" cy="0"/>
          <a:chOff x="0" y="0"/>
          <a:chExt cx="0" cy="0"/>
        </a:xfrm>
      </p:grpSpPr>
      <p:sp>
        <p:nvSpPr>
          <p:cNvPr id="3" name="Text 0"/>
          <p:cNvSpPr/>
          <p:nvPr/>
        </p:nvSpPr>
        <p:spPr>
          <a:xfrm>
            <a:off x="813816" y="502920"/>
            <a:ext cx="457200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Seen on Instagram this week</a:t>
            </a:r>
            <a:endParaRPr lang="en-US" sz="1200" dirty="0"/>
          </a:p>
        </p:txBody>
      </p:sp>
      <p:sp>
        <p:nvSpPr>
          <p:cNvPr id="4" name="Text 1"/>
          <p:cNvSpPr>
            <a:spLocks noGrp="1"/>
          </p:cNvSpPr>
          <p:nvPr>
            <p:ph type="title"/>
          </p:nvPr>
        </p:nvSpPr>
        <p:spPr>
          <a:xfrm>
            <a:off x="813816" y="777240"/>
            <a:ext cx="5486400" cy="54864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0B2E5E"/>
                </a:solidFill>
                <a:latin typeface="Lexend" pitchFamily="34" charset="0"/>
                <a:ea typeface="Lexend" pitchFamily="34" charset="-122"/>
                <a:cs typeface="Lexend" pitchFamily="34" charset="-120"/>
              </a:rPr>
              <a:t>Real or fake?</a:t>
            </a:r>
            <a:endParaRPr lang="en-US" sz="3600" dirty="0"/>
          </a:p>
        </p:txBody>
      </p:sp>
      <p:pic>
        <p:nvPicPr>
          <p:cNvPr id="53" name="Picture 52">
            <a:extLst>
              <a:ext uri="{FF2B5EF4-FFF2-40B4-BE49-F238E27FC236}">
                <a16:creationId xmlns:a16="http://schemas.microsoft.com/office/drawing/2014/main" id="{8FE5183E-291F-AD42-26D3-53555E23F566}"/>
              </a:ext>
            </a:extLst>
          </p:cNvPr>
          <p:cNvPicPr>
            <a:picLocks noChangeAspect="1"/>
          </p:cNvPicPr>
          <p:nvPr/>
        </p:nvPicPr>
        <p:blipFill>
          <a:blip r:embed="rId3"/>
          <a:stretch>
            <a:fillRect/>
          </a:stretch>
        </p:blipFill>
        <p:spPr>
          <a:xfrm>
            <a:off x="2167150" y="1783080"/>
            <a:ext cx="2129923" cy="4617720"/>
          </a:xfrm>
          <a:prstGeom prst="roundRect">
            <a:avLst>
              <a:gd name="adj" fmla="val 5000"/>
            </a:avLst>
          </a:prstGeom>
          <a:ln w="9525">
            <a:solidFill>
              <a:srgbClr val="D6E6F2"/>
            </a:solidFill>
          </a:ln>
          <a:effectLst>
            <a:outerShdw blurRad="457200" dist="152400" dir="5400000" algn="t" rotWithShape="0">
              <a:srgbClr val="0B2E5E">
                <a:alpha val="16000"/>
              </a:srgbClr>
            </a:outerShdw>
          </a:effectLst>
        </p:spPr>
      </p:pic>
      <p:pic>
        <p:nvPicPr>
          <p:cNvPr id="55" name="Picture 54">
            <a:extLst>
              <a:ext uri="{FF2B5EF4-FFF2-40B4-BE49-F238E27FC236}">
                <a16:creationId xmlns:a16="http://schemas.microsoft.com/office/drawing/2014/main" id="{FD4C39FA-4254-CD11-AE6A-9CFC73D7A9BB}"/>
              </a:ext>
            </a:extLst>
          </p:cNvPr>
          <p:cNvPicPr>
            <a:picLocks noChangeAspect="1"/>
          </p:cNvPicPr>
          <p:nvPr/>
        </p:nvPicPr>
        <p:blipFill>
          <a:blip r:embed="rId4"/>
          <a:stretch>
            <a:fillRect/>
          </a:stretch>
        </p:blipFill>
        <p:spPr>
          <a:xfrm>
            <a:off x="4754273" y="1783080"/>
            <a:ext cx="2683147" cy="4617720"/>
          </a:xfrm>
          <a:prstGeom prst="roundRect">
            <a:avLst>
              <a:gd name="adj" fmla="val 5000"/>
            </a:avLst>
          </a:prstGeom>
          <a:ln w="9525">
            <a:solidFill>
              <a:srgbClr val="D6E6F2"/>
            </a:solidFill>
          </a:ln>
          <a:effectLst>
            <a:outerShdw blurRad="457200" dist="152400" dir="5400000" algn="t" rotWithShape="0">
              <a:srgbClr val="0B2E5E">
                <a:alpha val="16000"/>
              </a:srgbClr>
            </a:outerShdw>
          </a:effectLst>
        </p:spPr>
      </p:pic>
      <p:pic>
        <p:nvPicPr>
          <p:cNvPr id="57" name="Picture 56">
            <a:extLst>
              <a:ext uri="{FF2B5EF4-FFF2-40B4-BE49-F238E27FC236}">
                <a16:creationId xmlns:a16="http://schemas.microsoft.com/office/drawing/2014/main" id="{BCF4018D-4166-186E-39B4-838A168EA27E}"/>
              </a:ext>
            </a:extLst>
          </p:cNvPr>
          <p:cNvPicPr>
            <a:picLocks noChangeAspect="1"/>
          </p:cNvPicPr>
          <p:nvPr/>
        </p:nvPicPr>
        <p:blipFill>
          <a:blip r:embed="rId5"/>
          <a:stretch>
            <a:fillRect/>
          </a:stretch>
        </p:blipFill>
        <p:spPr>
          <a:xfrm>
            <a:off x="7894621" y="1783080"/>
            <a:ext cx="2129923" cy="4617720"/>
          </a:xfrm>
          <a:prstGeom prst="roundRect">
            <a:avLst>
              <a:gd name="adj" fmla="val 5000"/>
            </a:avLst>
          </a:prstGeom>
          <a:ln w="9525">
            <a:solidFill>
              <a:srgbClr val="D6E6F2"/>
            </a:solidFill>
          </a:ln>
          <a:effectLst>
            <a:outerShdw blurRad="457200" dist="152400" dir="5400000" algn="t" rotWithShape="0">
              <a:srgbClr val="0B2E5E">
                <a:alpha val="16000"/>
              </a:srgbClr>
            </a:outerShdw>
          </a:effectLst>
        </p:spPr>
      </p:pic>
      <p:sp>
        <p:nvSpPr>
          <p:cNvPr id="59" name="Oval 58"/>
          <p:cNvSpPr/>
          <p:nvPr/>
        </p:nvSpPr>
        <p:spPr>
          <a:xfrm>
            <a:off x="2002558" y="1618488"/>
            <a:ext cx="420624" cy="420624"/>
          </a:xfrm>
          <a:prstGeom prst="ellipse">
            <a:avLst/>
          </a:prstGeom>
          <a:solidFill>
            <a:srgbClr val="4FC3F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B2E5E"/>
                </a:solidFill>
                <a:latin typeface="Inter"/>
              </a:rPr>
              <a:t>1</a:t>
            </a:r>
          </a:p>
        </p:txBody>
      </p:sp>
      <p:sp>
        <p:nvSpPr>
          <p:cNvPr id="60" name="Oval 59"/>
          <p:cNvSpPr/>
          <p:nvPr/>
        </p:nvSpPr>
        <p:spPr>
          <a:xfrm>
            <a:off x="4589681" y="1618488"/>
            <a:ext cx="420624" cy="420624"/>
          </a:xfrm>
          <a:prstGeom prst="ellipse">
            <a:avLst/>
          </a:prstGeom>
          <a:solidFill>
            <a:srgbClr val="4FC3F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B2E5E"/>
                </a:solidFill>
                <a:latin typeface="Inter"/>
              </a:rPr>
              <a:t>2</a:t>
            </a:r>
          </a:p>
        </p:txBody>
      </p:sp>
      <p:sp>
        <p:nvSpPr>
          <p:cNvPr id="61" name="Oval 60"/>
          <p:cNvSpPr/>
          <p:nvPr/>
        </p:nvSpPr>
        <p:spPr>
          <a:xfrm>
            <a:off x="7730029" y="1618488"/>
            <a:ext cx="420624" cy="420624"/>
          </a:xfrm>
          <a:prstGeom prst="ellipse">
            <a:avLst/>
          </a:prstGeom>
          <a:solidFill>
            <a:srgbClr val="4FC3F7"/>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0B2E5E"/>
                </a:solidFill>
                <a:latin typeface="Inter"/>
              </a:rPr>
              <a:t>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E5E"/>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22543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FD3F4"/>
                </a:solidFill>
                <a:latin typeface="Inter" pitchFamily="34" charset="0"/>
                <a:ea typeface="Inter" pitchFamily="34" charset="-122"/>
                <a:cs typeface="Inter" pitchFamily="34" charset="-120"/>
              </a:rPr>
              <a:t>The answer</a:t>
            </a:r>
            <a:endParaRPr lang="en-US" sz="1200" dirty="0"/>
          </a:p>
        </p:txBody>
      </p:sp>
      <p:sp>
        <p:nvSpPr>
          <p:cNvPr id="4" name="Text 1"/>
          <p:cNvSpPr>
            <a:spLocks noGrp="1"/>
          </p:cNvSpPr>
          <p:nvPr>
            <p:ph type="title"/>
          </p:nvPr>
        </p:nvSpPr>
        <p:spPr>
          <a:xfrm>
            <a:off x="812800" y="277242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kern="0" spc="-100" dirty="0">
                <a:solidFill>
                  <a:srgbClr val="FFFFFF"/>
                </a:solidFill>
                <a:latin typeface="Lexend" pitchFamily="34" charset="0"/>
                <a:ea typeface="Lexend" pitchFamily="34" charset="-122"/>
                <a:cs typeface="Lexend" pitchFamily="34" charset="-120"/>
              </a:rPr>
              <a:t>All three were fake.</a:t>
            </a:r>
            <a:endParaRPr lang="en-US" sz="6000" dirty="0"/>
          </a:p>
        </p:txBody>
      </p:sp>
      <p:sp>
        <p:nvSpPr>
          <p:cNvPr id="5" name="Text 2"/>
          <p:cNvSpPr/>
          <p:nvPr/>
        </p:nvSpPr>
        <p:spPr>
          <a:xfrm>
            <a:off x="812800" y="3877320"/>
            <a:ext cx="8502650" cy="751780"/>
          </a:xfrm>
          <a:prstGeom prst="rect">
            <a:avLst/>
          </a:prstGeom>
          <a:noFill/>
          <a:ln/>
        </p:spPr>
        <p:txBody>
          <a:bodyPr wrap="square" lIns="0" tIns="0" rIns="0" bIns="0" rtlCol="0" anchor="t">
            <a:normAutofit/>
          </a:bodyPr>
          <a:lstStyle/>
          <a:p>
            <a:pPr marL="0" indent="0" algn="l">
              <a:lnSpc>
                <a:spcPts val="2860"/>
              </a:lnSpc>
              <a:buNone/>
            </a:pP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E"/>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The problem</a:t>
            </a:r>
            <a:endParaRPr lang="en-US" sz="1200" dirty="0"/>
          </a:p>
        </p:txBody>
      </p:sp>
      <p:sp>
        <p:nvSpPr>
          <p:cNvPr id="4" name="Text 1"/>
          <p:cNvSpPr>
            <a:spLocks noGrp="1"/>
          </p:cNvSpPr>
          <p:nvPr>
            <p:ph type="title"/>
          </p:nvPr>
        </p:nvSpPr>
        <p:spPr>
          <a:xfrm>
            <a:off x="812800" y="1127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0B2E5E"/>
                </a:solidFill>
                <a:latin typeface="Lexend" pitchFamily="34" charset="0"/>
                <a:ea typeface="Lexend" pitchFamily="34" charset="-122"/>
                <a:cs typeface="Lexend" pitchFamily="34" charset="-120"/>
              </a:rPr>
              <a:t>News now lives where</a:t>
            </a:r>
            <a:endParaRPr lang="en-US" sz="3600" dirty="0"/>
          </a:p>
          <a:p>
            <a:pPr marL="0" indent="0" algn="l">
              <a:lnSpc>
                <a:spcPts val="3960"/>
              </a:lnSpc>
              <a:buNone/>
            </a:pPr>
            <a:r>
              <a:rPr lang="en-US" sz="3600" b="1" i="0" kern="0" spc="-50" dirty="0">
                <a:solidFill>
                  <a:srgbClr val="0B2E5E"/>
                </a:solidFill>
                <a:latin typeface="Lexend" pitchFamily="34" charset="0"/>
                <a:ea typeface="Lexend" pitchFamily="34" charset="-122"/>
                <a:cs typeface="Lexend" pitchFamily="34" charset="-120"/>
              </a:rPr>
              <a:t>nobody checks it.</a:t>
            </a:r>
            <a:endParaRPr lang="en-US" sz="3600" dirty="0"/>
          </a:p>
        </p:txBody>
      </p:sp>
      <p:sp>
        <p:nvSpPr>
          <p:cNvPr id="5" name="Shape 2"/>
          <p:cNvSpPr/>
          <p:nvPr/>
        </p:nvSpPr>
        <p:spPr>
          <a:xfrm>
            <a:off x="812800" y="2539901"/>
            <a:ext cx="3420517" cy="2423071"/>
          </a:xfrm>
          <a:prstGeom prst="roundRect">
            <a:avLst>
              <a:gd name="adj" fmla="val 6290"/>
            </a:avLst>
          </a:prstGeom>
          <a:solidFill>
            <a:srgbClr val="FFFFFF"/>
          </a:solidFill>
          <a:ln/>
          <a:effectLst>
            <a:outerShdw blurRad="254000" dist="76200" dir="5400000" algn="bl" rotWithShape="0">
              <a:srgbClr val="0B2E5E">
                <a:alpha val="8000"/>
              </a:srgbClr>
            </a:outerShdw>
          </a:effectLst>
        </p:spPr>
        <p:txBody>
          <a:bodyPr/>
          <a:lstStyle/>
          <a:p>
            <a:endParaRPr lang="sv-SE"/>
          </a:p>
        </p:txBody>
      </p:sp>
      <p:sp>
        <p:nvSpPr>
          <p:cNvPr id="6" name="Text 3"/>
          <p:cNvSpPr/>
          <p:nvPr/>
        </p:nvSpPr>
        <p:spPr>
          <a:xfrm>
            <a:off x="1066800" y="27939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4FC3F7"/>
          </a:solidFill>
          <a:ln/>
        </p:spPr>
        <p:txBody>
          <a:bodyPr wrap="square" lIns="0" tIns="0" rIns="0" bIns="0" rtlCol="0" anchor="t">
            <a:normAutofit/>
          </a:bodyPr>
          <a:lstStyle/>
          <a:p>
            <a:pPr marL="0" indent="0" algn="ctr">
              <a:lnSpc>
                <a:spcPts val="2796"/>
              </a:lnSpc>
              <a:buNone/>
            </a:pPr>
            <a:r>
              <a:rPr lang="en-US" sz="1200" b="1" dirty="0">
                <a:solidFill>
                  <a:srgbClr val="0B2E5E"/>
                </a:solidFill>
                <a:latin typeface="Inter" pitchFamily="34" charset="0"/>
                <a:ea typeface="Inter" pitchFamily="34" charset="-122"/>
                <a:cs typeface="Inter" pitchFamily="34" charset="-120"/>
              </a:rPr>
              <a:t>01</a:t>
            </a:r>
            <a:endParaRPr lang="en-US" sz="1200" dirty="0"/>
          </a:p>
        </p:txBody>
      </p:sp>
      <p:sp>
        <p:nvSpPr>
          <p:cNvPr id="7" name="Text 4"/>
          <p:cNvSpPr/>
          <p:nvPr/>
        </p:nvSpPr>
        <p:spPr>
          <a:xfrm>
            <a:off x="1066800" y="3251101"/>
            <a:ext cx="299989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0B2E5E"/>
                </a:solidFill>
                <a:latin typeface="Lexend" pitchFamily="34" charset="0"/>
                <a:ea typeface="Lexend" pitchFamily="34" charset="-122"/>
                <a:cs typeface="Lexend" pitchFamily="34" charset="-120"/>
              </a:rPr>
              <a:t>52%</a:t>
            </a:r>
            <a:endParaRPr lang="en-US" sz="4800" dirty="0"/>
          </a:p>
        </p:txBody>
      </p:sp>
      <p:sp>
        <p:nvSpPr>
          <p:cNvPr id="8" name="Text 5"/>
          <p:cNvSpPr/>
          <p:nvPr/>
        </p:nvSpPr>
        <p:spPr>
          <a:xfrm>
            <a:off x="1066800" y="3962301"/>
            <a:ext cx="2999892"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of 18–24s get their news mainly from social media, video or AI chatbots</a:t>
            </a:r>
            <a:endParaRPr lang="en-US" sz="1400" dirty="0"/>
          </a:p>
        </p:txBody>
      </p:sp>
      <p:sp>
        <p:nvSpPr>
          <p:cNvPr id="9" name="Shape 6"/>
          <p:cNvSpPr/>
          <p:nvPr/>
        </p:nvSpPr>
        <p:spPr>
          <a:xfrm>
            <a:off x="4385717" y="2539901"/>
            <a:ext cx="3420566" cy="2423071"/>
          </a:xfrm>
          <a:prstGeom prst="roundRect">
            <a:avLst>
              <a:gd name="adj" fmla="val 6290"/>
            </a:avLst>
          </a:prstGeom>
          <a:solidFill>
            <a:srgbClr val="FFFFFF"/>
          </a:solidFill>
          <a:ln/>
          <a:effectLst>
            <a:outerShdw blurRad="254000" dist="76200" dir="5400000" algn="bl" rotWithShape="0">
              <a:srgbClr val="0B2E5E">
                <a:alpha val="8000"/>
              </a:srgbClr>
            </a:outerShdw>
          </a:effectLst>
        </p:spPr>
        <p:txBody>
          <a:bodyPr/>
          <a:lstStyle/>
          <a:p>
            <a:endParaRPr lang="sv-SE"/>
          </a:p>
        </p:txBody>
      </p:sp>
      <p:sp>
        <p:nvSpPr>
          <p:cNvPr id="10" name="Text 7"/>
          <p:cNvSpPr/>
          <p:nvPr/>
        </p:nvSpPr>
        <p:spPr>
          <a:xfrm>
            <a:off x="4639717" y="27939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4FC3F7"/>
          </a:solidFill>
          <a:ln/>
        </p:spPr>
        <p:txBody>
          <a:bodyPr wrap="square" lIns="0" tIns="0" rIns="0" bIns="0" rtlCol="0" anchor="t">
            <a:normAutofit/>
          </a:bodyPr>
          <a:lstStyle/>
          <a:p>
            <a:pPr marL="0" indent="0" algn="ctr">
              <a:lnSpc>
                <a:spcPts val="2796"/>
              </a:lnSpc>
              <a:buNone/>
            </a:pPr>
            <a:r>
              <a:rPr lang="en-US" sz="1200" b="1" dirty="0">
                <a:solidFill>
                  <a:srgbClr val="0B2E5E"/>
                </a:solidFill>
                <a:latin typeface="Inter" pitchFamily="34" charset="0"/>
                <a:ea typeface="Inter" pitchFamily="34" charset="-122"/>
                <a:cs typeface="Inter" pitchFamily="34" charset="-120"/>
              </a:rPr>
              <a:t>02</a:t>
            </a:r>
            <a:endParaRPr lang="en-US" sz="1200" dirty="0"/>
          </a:p>
        </p:txBody>
      </p:sp>
      <p:sp>
        <p:nvSpPr>
          <p:cNvPr id="11" name="Text 8"/>
          <p:cNvSpPr/>
          <p:nvPr/>
        </p:nvSpPr>
        <p:spPr>
          <a:xfrm>
            <a:off x="4639717" y="3251101"/>
            <a:ext cx="299994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0B2E5E"/>
                </a:solidFill>
                <a:latin typeface="Lexend" pitchFamily="34" charset="0"/>
                <a:ea typeface="Lexend" pitchFamily="34" charset="-122"/>
                <a:cs typeface="Lexend" pitchFamily="34" charset="-120"/>
              </a:rPr>
              <a:t>#1</a:t>
            </a:r>
            <a:endParaRPr lang="en-US" sz="4800" dirty="0"/>
          </a:p>
        </p:txBody>
      </p:sp>
      <p:sp>
        <p:nvSpPr>
          <p:cNvPr id="12" name="Text 9"/>
          <p:cNvSpPr/>
          <p:nvPr/>
        </p:nvSpPr>
        <p:spPr>
          <a:xfrm>
            <a:off x="4639717" y="3962301"/>
            <a:ext cx="299994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Instagram is their biggest social platform for news</a:t>
            </a:r>
            <a:endParaRPr lang="en-US" sz="1400" dirty="0"/>
          </a:p>
        </p:txBody>
      </p:sp>
      <p:sp>
        <p:nvSpPr>
          <p:cNvPr id="13" name="Shape 10"/>
          <p:cNvSpPr/>
          <p:nvPr/>
        </p:nvSpPr>
        <p:spPr>
          <a:xfrm>
            <a:off x="7958683" y="2539901"/>
            <a:ext cx="3420517" cy="2423071"/>
          </a:xfrm>
          <a:prstGeom prst="roundRect">
            <a:avLst>
              <a:gd name="adj" fmla="val 6290"/>
            </a:avLst>
          </a:prstGeom>
          <a:solidFill>
            <a:srgbClr val="FFFFFF"/>
          </a:solidFill>
          <a:ln/>
          <a:effectLst>
            <a:outerShdw blurRad="254000" dist="76200" dir="5400000" algn="bl" rotWithShape="0">
              <a:srgbClr val="0B2E5E">
                <a:alpha val="8000"/>
              </a:srgbClr>
            </a:outerShdw>
          </a:effectLst>
        </p:spPr>
        <p:txBody>
          <a:bodyPr/>
          <a:lstStyle/>
          <a:p>
            <a:endParaRPr lang="sv-SE"/>
          </a:p>
        </p:txBody>
      </p:sp>
      <p:sp>
        <p:nvSpPr>
          <p:cNvPr id="14" name="Text 11"/>
          <p:cNvSpPr/>
          <p:nvPr/>
        </p:nvSpPr>
        <p:spPr>
          <a:xfrm>
            <a:off x="8212683" y="279390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4FC3F7"/>
          </a:solidFill>
          <a:ln/>
        </p:spPr>
        <p:txBody>
          <a:bodyPr wrap="square" lIns="0" tIns="0" rIns="0" bIns="0" rtlCol="0" anchor="t">
            <a:normAutofit/>
          </a:bodyPr>
          <a:lstStyle/>
          <a:p>
            <a:pPr marL="0" indent="0" algn="ctr">
              <a:lnSpc>
                <a:spcPts val="2796"/>
              </a:lnSpc>
              <a:buNone/>
            </a:pPr>
            <a:r>
              <a:rPr lang="en-US" sz="1200" b="1" dirty="0">
                <a:solidFill>
                  <a:srgbClr val="0B2E5E"/>
                </a:solidFill>
                <a:latin typeface="Inter" pitchFamily="34" charset="0"/>
                <a:ea typeface="Inter" pitchFamily="34" charset="-122"/>
                <a:cs typeface="Inter" pitchFamily="34" charset="-120"/>
              </a:rPr>
              <a:t>03</a:t>
            </a:r>
            <a:endParaRPr lang="en-US" sz="1200" dirty="0"/>
          </a:p>
        </p:txBody>
      </p:sp>
      <p:sp>
        <p:nvSpPr>
          <p:cNvPr id="15" name="Text 12"/>
          <p:cNvSpPr/>
          <p:nvPr/>
        </p:nvSpPr>
        <p:spPr>
          <a:xfrm>
            <a:off x="8212683" y="3251101"/>
            <a:ext cx="2999892"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0B2E5E"/>
                </a:solidFill>
                <a:latin typeface="Lexend" pitchFamily="34" charset="0"/>
                <a:ea typeface="Lexend" pitchFamily="34" charset="-122"/>
                <a:cs typeface="Lexend" pitchFamily="34" charset="-120"/>
              </a:rPr>
              <a:t>2025</a:t>
            </a:r>
            <a:endParaRPr lang="en-US" sz="4800" dirty="0"/>
          </a:p>
        </p:txBody>
      </p:sp>
      <p:sp>
        <p:nvSpPr>
          <p:cNvPr id="16" name="Text 13"/>
          <p:cNvSpPr/>
          <p:nvPr/>
        </p:nvSpPr>
        <p:spPr>
          <a:xfrm>
            <a:off x="8212683" y="3962301"/>
            <a:ext cx="29998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Meta ended third-party fact-checking on Instagram in the US</a:t>
            </a:r>
            <a:endParaRPr lang="en-US" sz="14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2"/>
                </a:solidFill>
                <a:latin typeface="Inter" pitchFamily="34" charset="0"/>
                <a:ea typeface="Inter" pitchFamily="34" charset="-122"/>
                <a:cs typeface="Inter" pitchFamily="34" charset="-120"/>
              </a:rPr>
              <a:t>Sources: Reuters Institute Digital News Report 2026 · Meta announcement, January 2025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E"/>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159518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The trap</a:t>
            </a:r>
            <a:endParaRPr lang="en-US" sz="1200" dirty="0"/>
          </a:p>
        </p:txBody>
      </p:sp>
      <p:sp>
        <p:nvSpPr>
          <p:cNvPr id="4" name="Text 1"/>
          <p:cNvSpPr>
            <a:spLocks noGrp="1"/>
          </p:cNvSpPr>
          <p:nvPr>
            <p:ph type="title"/>
          </p:nvPr>
        </p:nvSpPr>
        <p:spPr>
          <a:xfrm>
            <a:off x="812800" y="2164110"/>
            <a:ext cx="9810750" cy="1076920"/>
          </a:xfrm>
          <a:prstGeom prst="rect">
            <a:avLst/>
          </a:prstGeom>
          <a:noFill/>
          <a:ln/>
        </p:spPr>
        <p:txBody>
          <a:bodyPr wrap="square" lIns="0" tIns="0" rIns="0" bIns="0" rtlCol="0" anchor="t">
            <a:normAutofit/>
          </a:bodyPr>
          <a:lstStyle/>
          <a:p>
            <a:pPr marL="0" indent="0" algn="l">
              <a:lnSpc>
                <a:spcPts val="4140"/>
              </a:lnSpc>
              <a:buNone/>
            </a:pPr>
            <a:r>
              <a:rPr lang="en-US" sz="3600" b="1" i="0" kern="0" spc="-50" dirty="0">
                <a:solidFill>
                  <a:srgbClr val="0B2E5E"/>
                </a:solidFill>
                <a:latin typeface="Lexend" pitchFamily="34" charset="0"/>
                <a:ea typeface="Lexend" pitchFamily="34" charset="-122"/>
                <a:cs typeface="Lexend" pitchFamily="34" charset="-120"/>
              </a:rPr>
              <a:t>Fact-checkers hand you a verdict. So you stop thinking.</a:t>
            </a:r>
            <a:endParaRPr lang="en-US" sz="3600" dirty="0"/>
          </a:p>
        </p:txBody>
      </p:sp>
      <p:sp>
        <p:nvSpPr>
          <p:cNvPr id="5" name="Text 2"/>
          <p:cNvSpPr/>
          <p:nvPr/>
        </p:nvSpPr>
        <p:spPr>
          <a:xfrm>
            <a:off x="819150" y="3577580"/>
            <a:ext cx="1502271" cy="551160"/>
          </a:xfrm>
          <a:prstGeom prst="roundRect">
            <a:avLst>
              <a:gd name="adj" fmla="val 50000"/>
            </a:avLst>
          </a:prstGeom>
          <a:solidFill>
            <a:srgbClr val="FFFFFF"/>
          </a:solidFill>
          <a:ln w="12700">
            <a:solidFill>
              <a:srgbClr val="BFE4F8"/>
            </a:solidFill>
            <a:prstDash val="solid"/>
          </a:ln>
        </p:spPr>
        <p:txBody>
          <a:bodyPr wrap="none" lIns="0" tIns="0" rIns="0" bIns="0" rtlCol="0" anchor="ctr">
            <a:normAutofit/>
          </a:bodyPr>
          <a:lstStyle/>
          <a:p>
            <a:pPr marL="0" indent="0" algn="ctr">
              <a:lnSpc>
                <a:spcPts val="2240"/>
              </a:lnSpc>
              <a:buNone/>
            </a:pPr>
            <a:r>
              <a:rPr lang="en-US" sz="1600" b="1" dirty="0">
                <a:solidFill>
                  <a:srgbClr val="0B2E5E"/>
                </a:solidFill>
                <a:latin typeface="Inter" pitchFamily="34" charset="0"/>
                <a:ea typeface="Inter" pitchFamily="34" charset="-122"/>
                <a:cs typeface="Inter" pitchFamily="34" charset="-120"/>
              </a:rPr>
              <a:t>AI decides</a:t>
            </a:r>
            <a:endParaRPr lang="en-US" sz="1600" dirty="0"/>
          </a:p>
        </p:txBody>
      </p:sp>
      <p:pic>
        <p:nvPicPr>
          <p:cNvPr id="6" name="Image 1" descr="arrow-right"/>
          <p:cNvPicPr>
            <a:picLocks noChangeAspect="1"/>
          </p:cNvPicPr>
          <p:nvPr/>
        </p:nvPicPr>
        <p:blipFill>
          <a:blip r:embed="rId4"/>
          <a:srcRect/>
          <a:stretch/>
        </p:blipFill>
        <p:spPr>
          <a:xfrm>
            <a:off x="2505571" y="3764260"/>
            <a:ext cx="355600" cy="177800"/>
          </a:xfrm>
          <a:prstGeom prst="rect">
            <a:avLst/>
          </a:prstGeom>
        </p:spPr>
      </p:pic>
      <p:sp>
        <p:nvSpPr>
          <p:cNvPr id="7" name="Text 3"/>
          <p:cNvSpPr/>
          <p:nvPr/>
        </p:nvSpPr>
        <p:spPr>
          <a:xfrm>
            <a:off x="3045321" y="3577580"/>
            <a:ext cx="1530499" cy="551160"/>
          </a:xfrm>
          <a:prstGeom prst="roundRect">
            <a:avLst>
              <a:gd name="adj" fmla="val 50000"/>
            </a:avLst>
          </a:prstGeom>
          <a:solidFill>
            <a:srgbClr val="FFFFFF"/>
          </a:solidFill>
          <a:ln w="12700">
            <a:solidFill>
              <a:srgbClr val="BFE4F8"/>
            </a:solidFill>
            <a:prstDash val="solid"/>
          </a:ln>
        </p:spPr>
        <p:txBody>
          <a:bodyPr wrap="none" lIns="0" tIns="0" rIns="0" bIns="0" rtlCol="0" anchor="ctr">
            <a:normAutofit/>
          </a:bodyPr>
          <a:lstStyle/>
          <a:p>
            <a:pPr marL="0" indent="0" algn="ctr">
              <a:lnSpc>
                <a:spcPts val="2240"/>
              </a:lnSpc>
              <a:buNone/>
            </a:pPr>
            <a:r>
              <a:rPr lang="en-US" sz="1600" b="1" dirty="0">
                <a:solidFill>
                  <a:srgbClr val="0B2E5E"/>
                </a:solidFill>
                <a:latin typeface="Inter" pitchFamily="34" charset="0"/>
                <a:ea typeface="Inter" pitchFamily="34" charset="-122"/>
                <a:cs typeface="Inter" pitchFamily="34" charset="-120"/>
              </a:rPr>
              <a:t>You trust it</a:t>
            </a:r>
            <a:endParaRPr lang="en-US" sz="1600" dirty="0"/>
          </a:p>
        </p:txBody>
      </p:sp>
      <p:pic>
        <p:nvPicPr>
          <p:cNvPr id="8" name="Image 2" descr="arrow-right"/>
          <p:cNvPicPr>
            <a:picLocks noChangeAspect="1"/>
          </p:cNvPicPr>
          <p:nvPr/>
        </p:nvPicPr>
        <p:blipFill>
          <a:blip r:embed="rId4"/>
          <a:srcRect/>
          <a:stretch/>
        </p:blipFill>
        <p:spPr>
          <a:xfrm>
            <a:off x="4759970" y="3764260"/>
            <a:ext cx="355600" cy="177800"/>
          </a:xfrm>
          <a:prstGeom prst="rect">
            <a:avLst/>
          </a:prstGeom>
        </p:spPr>
      </p:pic>
      <p:sp>
        <p:nvSpPr>
          <p:cNvPr id="9" name="Text 4"/>
          <p:cNvSpPr/>
          <p:nvPr/>
        </p:nvSpPr>
        <p:spPr>
          <a:xfrm>
            <a:off x="5293370" y="3583930"/>
            <a:ext cx="2970461" cy="538460"/>
          </a:xfrm>
          <a:prstGeom prst="roundRect">
            <a:avLst>
              <a:gd name="adj" fmla="val 50000"/>
            </a:avLst>
          </a:prstGeom>
          <a:solidFill>
            <a:srgbClr val="0B2E5E"/>
          </a:solidFill>
          <a:ln/>
        </p:spPr>
        <p:txBody>
          <a:bodyPr wrap="none" lIns="0" tIns="0" rIns="0" bIns="0" rtlCol="0" anchor="ctr">
            <a:normAutofit/>
          </a:bodyPr>
          <a:lstStyle/>
          <a:p>
            <a:pPr marL="0" indent="0" algn="ctr">
              <a:lnSpc>
                <a:spcPts val="2240"/>
              </a:lnSpc>
              <a:buNone/>
            </a:pPr>
            <a:r>
              <a:rPr lang="en-US" sz="1600" b="1" dirty="0">
                <a:solidFill>
                  <a:srgbClr val="FFFFFF"/>
                </a:solidFill>
                <a:latin typeface="Inter" pitchFamily="34" charset="0"/>
                <a:ea typeface="Inter" pitchFamily="34" charset="-122"/>
                <a:cs typeface="Inter" pitchFamily="34" charset="-120"/>
              </a:rPr>
              <a:t>You need it for every post</a:t>
            </a:r>
            <a:endParaRPr lang="en-US" sz="1600" dirty="0"/>
          </a:p>
        </p:txBody>
      </p:sp>
      <p:sp>
        <p:nvSpPr>
          <p:cNvPr id="10" name="Text 5"/>
          <p:cNvSpPr/>
          <p:nvPr/>
        </p:nvSpPr>
        <p:spPr>
          <a:xfrm>
            <a:off x="812800" y="4490690"/>
            <a:ext cx="91567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A4A63"/>
                </a:solidFill>
                <a:latin typeface="Inter" pitchFamily="34" charset="0"/>
                <a:ea typeface="Inter" pitchFamily="34" charset="-122"/>
                <a:cs typeface="Inter" pitchFamily="34" charset="-120"/>
              </a:rPr>
              <a:t>People who trust AI more report doing less critical thinking. That is the “falling asleep behind the wheel” effect.</a:t>
            </a:r>
            <a:endParaRPr lang="en-US" sz="1600" dirty="0"/>
          </a:p>
        </p:txBody>
      </p:sp>
      <p:sp>
        <p:nvSpPr>
          <p:cNvPr id="11"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2"/>
                </a:solidFill>
                <a:latin typeface="Inter" pitchFamily="34" charset="0"/>
                <a:ea typeface="Inter" pitchFamily="34" charset="-122"/>
                <a:cs typeface="Inter" pitchFamily="34" charset="-120"/>
              </a:rPr>
              <a:t>Source: Lee et al., Microsoft Research and Carnegie Mellon, CHI 2025 (survey of 319 knowledge workers)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E"/>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Our idea</a:t>
            </a:r>
            <a:endParaRPr lang="en-US" sz="1200" dirty="0"/>
          </a:p>
        </p:txBody>
      </p:sp>
      <p:sp>
        <p:nvSpPr>
          <p:cNvPr id="4"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0B2E5E"/>
                </a:solidFill>
                <a:latin typeface="Lexend" pitchFamily="34" charset="0"/>
                <a:ea typeface="Lexend" pitchFamily="34" charset="-122"/>
                <a:cs typeface="Lexend" pitchFamily="34" charset="-120"/>
              </a:rPr>
              <a:t>We flip it. You think first.</a:t>
            </a:r>
            <a:endParaRPr lang="en-US" sz="3600" dirty="0"/>
          </a:p>
        </p:txBody>
      </p:sp>
      <p:sp>
        <p:nvSpPr>
          <p:cNvPr id="5" name="Shape 2"/>
          <p:cNvSpPr/>
          <p:nvPr/>
        </p:nvSpPr>
        <p:spPr>
          <a:xfrm>
            <a:off x="812800" y="2087811"/>
            <a:ext cx="3386634" cy="2351931"/>
          </a:xfrm>
          <a:prstGeom prst="roundRect">
            <a:avLst>
              <a:gd name="adj" fmla="val 6480"/>
            </a:avLst>
          </a:prstGeom>
          <a:solidFill>
            <a:srgbClr val="FFFFFF"/>
          </a:solidFill>
          <a:ln/>
          <a:effectLst>
            <a:outerShdw blurRad="254000" dist="76200" dir="5400000" algn="bl" rotWithShape="0">
              <a:srgbClr val="0B2E5E">
                <a:alpha val="8000"/>
              </a:srgbClr>
            </a:outerShdw>
          </a:effectLst>
        </p:spPr>
        <p:txBody>
          <a:bodyPr/>
          <a:lstStyle/>
          <a:p>
            <a:endParaRPr lang="sv-SE"/>
          </a:p>
        </p:txBody>
      </p:sp>
      <p:sp>
        <p:nvSpPr>
          <p:cNvPr id="6" name="Text 3"/>
          <p:cNvSpPr/>
          <p:nvPr/>
        </p:nvSpPr>
        <p:spPr>
          <a:xfrm>
            <a:off x="1117600" y="239261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4FC3F7"/>
          </a:solidFill>
          <a:ln/>
        </p:spPr>
        <p:txBody>
          <a:bodyPr wrap="square" lIns="0" tIns="0" rIns="0" bIns="0" rtlCol="0" anchor="t">
            <a:normAutofit/>
          </a:bodyPr>
          <a:lstStyle/>
          <a:p>
            <a:pPr marL="0" indent="0" algn="ctr">
              <a:lnSpc>
                <a:spcPts val="2796"/>
              </a:lnSpc>
              <a:buNone/>
            </a:pPr>
            <a:r>
              <a:rPr lang="en-US" sz="1200" b="1" dirty="0">
                <a:solidFill>
                  <a:srgbClr val="0B2E5E"/>
                </a:solidFill>
                <a:latin typeface="Inter" pitchFamily="34" charset="0"/>
                <a:ea typeface="Inter" pitchFamily="34" charset="-122"/>
                <a:cs typeface="Inter" pitchFamily="34" charset="-120"/>
              </a:rPr>
              <a:t>01</a:t>
            </a:r>
            <a:endParaRPr lang="en-US" sz="1200" dirty="0"/>
          </a:p>
        </p:txBody>
      </p:sp>
      <p:sp>
        <p:nvSpPr>
          <p:cNvPr id="7" name="Text 4"/>
          <p:cNvSpPr/>
          <p:nvPr/>
        </p:nvSpPr>
        <p:spPr>
          <a:xfrm>
            <a:off x="1117600" y="2900611"/>
            <a:ext cx="2860345"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B2E5E"/>
                </a:solidFill>
                <a:latin typeface="Lexend" pitchFamily="34" charset="0"/>
                <a:ea typeface="Lexend" pitchFamily="34" charset="-122"/>
                <a:cs typeface="Lexend" pitchFamily="34" charset="-120"/>
              </a:rPr>
              <a:t>Think</a:t>
            </a:r>
            <a:endParaRPr lang="en-US" sz="2200" dirty="0"/>
          </a:p>
        </p:txBody>
      </p:sp>
      <p:sp>
        <p:nvSpPr>
          <p:cNvPr id="8" name="Text 5"/>
          <p:cNvSpPr/>
          <p:nvPr/>
        </p:nvSpPr>
        <p:spPr>
          <a:xfrm>
            <a:off x="1117600" y="3388271"/>
            <a:ext cx="2860345"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One question that makes you look at the post again. Before we tell you anything.</a:t>
            </a:r>
            <a:endParaRPr lang="en-US" sz="1400" dirty="0"/>
          </a:p>
        </p:txBody>
      </p:sp>
      <p:sp>
        <p:nvSpPr>
          <p:cNvPr id="9" name="Shape 6"/>
          <p:cNvSpPr/>
          <p:nvPr/>
        </p:nvSpPr>
        <p:spPr>
          <a:xfrm>
            <a:off x="4402634" y="2087811"/>
            <a:ext cx="3386683" cy="2351931"/>
          </a:xfrm>
          <a:prstGeom prst="roundRect">
            <a:avLst>
              <a:gd name="adj" fmla="val 6480"/>
            </a:avLst>
          </a:prstGeom>
          <a:solidFill>
            <a:srgbClr val="FFFFFF"/>
          </a:solidFill>
          <a:ln/>
          <a:effectLst>
            <a:outerShdw blurRad="254000" dist="76200" dir="5400000" algn="bl" rotWithShape="0">
              <a:srgbClr val="0B2E5E">
                <a:alpha val="8000"/>
              </a:srgbClr>
            </a:outerShdw>
          </a:effectLst>
        </p:spPr>
        <p:txBody>
          <a:bodyPr/>
          <a:lstStyle/>
          <a:p>
            <a:endParaRPr lang="sv-SE"/>
          </a:p>
        </p:txBody>
      </p:sp>
      <p:sp>
        <p:nvSpPr>
          <p:cNvPr id="10" name="Text 7"/>
          <p:cNvSpPr/>
          <p:nvPr/>
        </p:nvSpPr>
        <p:spPr>
          <a:xfrm>
            <a:off x="4707434" y="239261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4FC3F7"/>
          </a:solidFill>
          <a:ln/>
        </p:spPr>
        <p:txBody>
          <a:bodyPr wrap="square" lIns="0" tIns="0" rIns="0" bIns="0" rtlCol="0" anchor="t">
            <a:normAutofit/>
          </a:bodyPr>
          <a:lstStyle/>
          <a:p>
            <a:pPr marL="0" indent="0" algn="ctr">
              <a:lnSpc>
                <a:spcPts val="2796"/>
              </a:lnSpc>
              <a:buNone/>
            </a:pPr>
            <a:r>
              <a:rPr lang="en-US" sz="1200" b="1" dirty="0">
                <a:solidFill>
                  <a:srgbClr val="0B2E5E"/>
                </a:solidFill>
                <a:latin typeface="Inter" pitchFamily="34" charset="0"/>
                <a:ea typeface="Inter" pitchFamily="34" charset="-122"/>
                <a:cs typeface="Inter" pitchFamily="34" charset="-120"/>
              </a:rPr>
              <a:t>02</a:t>
            </a:r>
            <a:endParaRPr lang="en-US" sz="1200" dirty="0"/>
          </a:p>
        </p:txBody>
      </p:sp>
      <p:sp>
        <p:nvSpPr>
          <p:cNvPr id="11" name="Text 8"/>
          <p:cNvSpPr/>
          <p:nvPr/>
        </p:nvSpPr>
        <p:spPr>
          <a:xfrm>
            <a:off x="4707434" y="2900611"/>
            <a:ext cx="286039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B2E5E"/>
                </a:solidFill>
                <a:latin typeface="Lexend" pitchFamily="34" charset="0"/>
                <a:ea typeface="Lexend" pitchFamily="34" charset="-122"/>
                <a:cs typeface="Lexend" pitchFamily="34" charset="-120"/>
              </a:rPr>
              <a:t>Evidence</a:t>
            </a:r>
            <a:endParaRPr lang="en-US" sz="2200" dirty="0"/>
          </a:p>
        </p:txBody>
      </p:sp>
      <p:sp>
        <p:nvSpPr>
          <p:cNvPr id="12" name="Text 9"/>
          <p:cNvSpPr/>
          <p:nvPr/>
        </p:nvSpPr>
        <p:spPr>
          <a:xfrm>
            <a:off x="4707434" y="3388271"/>
            <a:ext cx="2860396"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What 13 named fact-checkers and newsrooms say, with quotes checked word for word.</a:t>
            </a:r>
            <a:endParaRPr lang="en-US" sz="1400" dirty="0"/>
          </a:p>
        </p:txBody>
      </p:sp>
      <p:sp>
        <p:nvSpPr>
          <p:cNvPr id="13" name="Shape 10"/>
          <p:cNvSpPr/>
          <p:nvPr/>
        </p:nvSpPr>
        <p:spPr>
          <a:xfrm>
            <a:off x="7992517" y="2087811"/>
            <a:ext cx="3386683" cy="2351931"/>
          </a:xfrm>
          <a:prstGeom prst="roundRect">
            <a:avLst>
              <a:gd name="adj" fmla="val 6480"/>
            </a:avLst>
          </a:prstGeom>
          <a:solidFill>
            <a:srgbClr val="0B2E5E"/>
          </a:solidFill>
          <a:ln/>
          <a:effectLst>
            <a:outerShdw blurRad="254000" dist="76200" dir="5400000" algn="bl" rotWithShape="0">
              <a:srgbClr val="0B2E5E">
                <a:alpha val="18000"/>
              </a:srgbClr>
            </a:outerShdw>
          </a:effectLst>
        </p:spPr>
        <p:txBody>
          <a:bodyPr/>
          <a:lstStyle/>
          <a:p>
            <a:endParaRPr lang="sv-SE"/>
          </a:p>
        </p:txBody>
      </p:sp>
      <p:sp>
        <p:nvSpPr>
          <p:cNvPr id="14" name="Text 11"/>
          <p:cNvSpPr/>
          <p:nvPr/>
        </p:nvSpPr>
        <p:spPr>
          <a:xfrm>
            <a:off x="8297317" y="239261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4FC3F7"/>
          </a:solidFill>
          <a:ln/>
        </p:spPr>
        <p:txBody>
          <a:bodyPr wrap="square" lIns="0" tIns="0" rIns="0" bIns="0" rtlCol="0" anchor="t">
            <a:normAutofit/>
          </a:bodyPr>
          <a:lstStyle/>
          <a:p>
            <a:pPr marL="0" indent="0" algn="ctr">
              <a:lnSpc>
                <a:spcPts val="2796"/>
              </a:lnSpc>
              <a:buNone/>
            </a:pPr>
            <a:r>
              <a:rPr lang="en-US" sz="1200" b="1" dirty="0">
                <a:solidFill>
                  <a:srgbClr val="0B2E5E"/>
                </a:solidFill>
                <a:latin typeface="Inter" pitchFamily="34" charset="0"/>
                <a:ea typeface="Inter" pitchFamily="34" charset="-122"/>
                <a:cs typeface="Inter" pitchFamily="34" charset="-120"/>
              </a:rPr>
              <a:t>03</a:t>
            </a:r>
            <a:endParaRPr lang="en-US" sz="1200" dirty="0"/>
          </a:p>
        </p:txBody>
      </p:sp>
      <p:sp>
        <p:nvSpPr>
          <p:cNvPr id="15" name="Text 12"/>
          <p:cNvSpPr/>
          <p:nvPr/>
        </p:nvSpPr>
        <p:spPr>
          <a:xfrm>
            <a:off x="8297317" y="2900611"/>
            <a:ext cx="2860396"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FFFFF"/>
                </a:solidFill>
                <a:latin typeface="Lexend" pitchFamily="34" charset="0"/>
                <a:ea typeface="Lexend" pitchFamily="34" charset="-122"/>
                <a:cs typeface="Lexend" pitchFamily="34" charset="-120"/>
              </a:rPr>
              <a:t>Learn</a:t>
            </a:r>
            <a:endParaRPr lang="en-US" sz="2200" dirty="0"/>
          </a:p>
        </p:txBody>
      </p:sp>
      <p:sp>
        <p:nvSpPr>
          <p:cNvPr id="16" name="Text 13"/>
          <p:cNvSpPr/>
          <p:nvPr/>
        </p:nvSpPr>
        <p:spPr>
          <a:xfrm>
            <a:off x="8297317" y="3388271"/>
            <a:ext cx="286039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FFB"/>
                </a:solidFill>
                <a:latin typeface="Inter" pitchFamily="34" charset="0"/>
                <a:ea typeface="Inter" pitchFamily="34" charset="-122"/>
                <a:cs typeface="Inter" pitchFamily="34" charset="-120"/>
              </a:rPr>
              <a:t>One tip you can reuse next time. On your own.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BFE"/>
        </a:solidFill>
        <a:effectLst/>
      </p:bgPr>
    </p:bg>
    <p:spTree>
      <p:nvGrpSpPr>
        <p:cNvPr id="1" name="">
          <a:extLst>
            <a:ext uri="{FF2B5EF4-FFF2-40B4-BE49-F238E27FC236}">
              <a16:creationId xmlns:a16="http://schemas.microsoft.com/office/drawing/2014/main" id="{A4984E72-914F-5765-836C-E5B229E9EE36}"/>
            </a:ext>
          </a:extLst>
        </p:cNvPr>
        <p:cNvGrpSpPr/>
        <p:nvPr/>
      </p:nvGrpSpPr>
      <p:grpSpPr>
        <a:xfrm>
          <a:off x="0" y="0"/>
          <a:ext cx="0" cy="0"/>
          <a:chOff x="0" y="0"/>
          <a:chExt cx="0" cy="0"/>
        </a:xfrm>
      </p:grpSpPr>
      <p:pic>
        <p:nvPicPr>
          <p:cNvPr id="2" name="Image 0">
            <a:extLst>
              <a:ext uri="{FF2B5EF4-FFF2-40B4-BE49-F238E27FC236}">
                <a16:creationId xmlns:a16="http://schemas.microsoft.com/office/drawing/2014/main" id="{76AA7558-B15A-7A20-F35B-995B508E523D}"/>
              </a:ext>
            </a:extLst>
          </p:cNvPr>
          <p:cNvPicPr>
            <a:picLocks noChangeAspect="1"/>
          </p:cNvPicPr>
          <p:nvPr/>
        </p:nvPicPr>
        <p:blipFill>
          <a:blip r:embed="rId3"/>
          <a:srcRect/>
          <a:stretch/>
        </p:blipFill>
        <p:spPr>
          <a:xfrm>
            <a:off x="0" y="0"/>
            <a:ext cx="12192000" cy="6858000"/>
          </a:xfrm>
          <a:prstGeom prst="rect">
            <a:avLst/>
          </a:prstGeom>
        </p:spPr>
      </p:pic>
      <p:sp>
        <p:nvSpPr>
          <p:cNvPr id="3" name="Text 0">
            <a:extLst>
              <a:ext uri="{FF2B5EF4-FFF2-40B4-BE49-F238E27FC236}">
                <a16:creationId xmlns:a16="http://schemas.microsoft.com/office/drawing/2014/main" id="{2F760DE6-5121-1735-70D9-01548941E1F8}"/>
              </a:ext>
            </a:extLst>
          </p:cNvPr>
          <p:cNvSpPr/>
          <p:nvPr/>
        </p:nvSpPr>
        <p:spPr>
          <a:xfrm>
            <a:off x="2192062" y="457200"/>
            <a:ext cx="548640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Live demo</a:t>
            </a:r>
            <a:endParaRPr lang="en-US" sz="1200" dirty="0"/>
          </a:p>
        </p:txBody>
      </p:sp>
      <p:sp>
        <p:nvSpPr>
          <p:cNvPr id="4" name="Text 1">
            <a:extLst>
              <a:ext uri="{FF2B5EF4-FFF2-40B4-BE49-F238E27FC236}">
                <a16:creationId xmlns:a16="http://schemas.microsoft.com/office/drawing/2014/main" id="{0C7DF692-5089-5179-86B1-5E163F6D637F}"/>
              </a:ext>
            </a:extLst>
          </p:cNvPr>
          <p:cNvSpPr>
            <a:spLocks noGrp="1"/>
          </p:cNvSpPr>
          <p:nvPr>
            <p:ph type="title"/>
          </p:nvPr>
        </p:nvSpPr>
        <p:spPr>
          <a:xfrm>
            <a:off x="2192062" y="731520"/>
            <a:ext cx="7807569" cy="502920"/>
          </a:xfrm>
          <a:prstGeom prst="rect">
            <a:avLst/>
          </a:prstGeom>
          <a:noFill/>
          <a:ln/>
        </p:spPr>
        <p:txBody>
          <a:bodyPr wrap="square" lIns="0" tIns="0" rIns="0" bIns="0" rtlCol="0" anchor="t">
            <a:normAutofit/>
          </a:bodyPr>
          <a:lstStyle/>
          <a:p>
            <a:pPr marL="0" indent="0" algn="l">
              <a:lnSpc>
                <a:spcPts val="2989"/>
              </a:lnSpc>
              <a:buNone/>
            </a:pPr>
            <a:r>
              <a:rPr lang="en-US" sz="2600" b="1" i="0" kern="0" spc="-50" dirty="0">
                <a:solidFill>
                  <a:srgbClr val="0B2E5E"/>
                </a:solidFill>
                <a:latin typeface="Lexend" pitchFamily="34" charset="0"/>
                <a:ea typeface="Lexend" pitchFamily="34" charset="-122"/>
                <a:cs typeface="Lexend" pitchFamily="34" charset="-120"/>
              </a:rPr>
              <a:t>1 · The extension spots red flags</a:t>
            </a:r>
            <a:endParaRPr lang="en-US" sz="2600" dirty="0"/>
          </a:p>
        </p:txBody>
      </p:sp>
      <p:pic>
        <p:nvPicPr>
          <p:cNvPr id="14" name="Picture 13">
            <a:extLst>
              <a:ext uri="{FF2B5EF4-FFF2-40B4-BE49-F238E27FC236}">
                <a16:creationId xmlns:a16="http://schemas.microsoft.com/office/drawing/2014/main" id="{3774973E-875C-3F85-23C8-D3EE605D4E27}"/>
              </a:ext>
            </a:extLst>
          </p:cNvPr>
          <p:cNvPicPr>
            <a:picLocks noChangeAspect="1"/>
          </p:cNvPicPr>
          <p:nvPr/>
        </p:nvPicPr>
        <p:blipFill>
          <a:blip r:embed="rId4"/>
          <a:stretch>
            <a:fillRect/>
          </a:stretch>
        </p:blipFill>
        <p:spPr>
          <a:xfrm>
            <a:off x="2192062" y="1417320"/>
            <a:ext cx="7807569" cy="5074920"/>
          </a:xfrm>
          <a:prstGeom prst="roundRect">
            <a:avLst>
              <a:gd name="adj" fmla="val 2500"/>
            </a:avLst>
          </a:prstGeom>
          <a:ln w="9525">
            <a:solidFill>
              <a:srgbClr val="D6E6F2"/>
            </a:solidFill>
          </a:ln>
          <a:effectLst>
            <a:outerShdw blurRad="457200" dist="152400" dir="5400000" algn="t" rotWithShape="0">
              <a:srgbClr val="0B2E5E">
                <a:alpha val="16000"/>
              </a:srgbClr>
            </a:outerShdw>
          </a:effectLst>
        </p:spPr>
      </p:pic>
    </p:spTree>
    <p:extLst>
      <p:ext uri="{BB962C8B-B14F-4D97-AF65-F5344CB8AC3E}">
        <p14:creationId xmlns:p14="http://schemas.microsoft.com/office/powerpoint/2010/main" val="2717734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BFE"/>
        </a:solidFill>
        <a:effectLst/>
      </p:bgPr>
    </p:bg>
    <p:spTree>
      <p:nvGrpSpPr>
        <p:cNvPr id="1" name="">
          <a:extLst>
            <a:ext uri="{FF2B5EF4-FFF2-40B4-BE49-F238E27FC236}">
              <a16:creationId xmlns:a16="http://schemas.microsoft.com/office/drawing/2014/main" id="{05EE7246-23F1-7271-6AA7-EC9D4F383D0B}"/>
            </a:ext>
          </a:extLst>
        </p:cNvPr>
        <p:cNvGrpSpPr/>
        <p:nvPr/>
      </p:nvGrpSpPr>
      <p:grpSpPr>
        <a:xfrm>
          <a:off x="0" y="0"/>
          <a:ext cx="0" cy="0"/>
          <a:chOff x="0" y="0"/>
          <a:chExt cx="0" cy="0"/>
        </a:xfrm>
      </p:grpSpPr>
      <p:pic>
        <p:nvPicPr>
          <p:cNvPr id="2" name="Image 0">
            <a:extLst>
              <a:ext uri="{FF2B5EF4-FFF2-40B4-BE49-F238E27FC236}">
                <a16:creationId xmlns:a16="http://schemas.microsoft.com/office/drawing/2014/main" id="{93838766-F11E-79C5-2668-11F9D90D4B1E}"/>
              </a:ext>
            </a:extLst>
          </p:cNvPr>
          <p:cNvPicPr>
            <a:picLocks noChangeAspect="1"/>
          </p:cNvPicPr>
          <p:nvPr/>
        </p:nvPicPr>
        <p:blipFill>
          <a:blip r:embed="rId3"/>
          <a:srcRect/>
          <a:stretch/>
        </p:blipFill>
        <p:spPr>
          <a:xfrm>
            <a:off x="0" y="0"/>
            <a:ext cx="12192000" cy="6858000"/>
          </a:xfrm>
          <a:prstGeom prst="rect">
            <a:avLst/>
          </a:prstGeom>
        </p:spPr>
      </p:pic>
      <p:sp>
        <p:nvSpPr>
          <p:cNvPr id="3" name="Text 0">
            <a:extLst>
              <a:ext uri="{FF2B5EF4-FFF2-40B4-BE49-F238E27FC236}">
                <a16:creationId xmlns:a16="http://schemas.microsoft.com/office/drawing/2014/main" id="{68330963-F98E-94A0-F821-C64D5C5B9F27}"/>
              </a:ext>
            </a:extLst>
          </p:cNvPr>
          <p:cNvSpPr/>
          <p:nvPr/>
        </p:nvSpPr>
        <p:spPr>
          <a:xfrm>
            <a:off x="2265719" y="457200"/>
            <a:ext cx="548640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Live demo</a:t>
            </a:r>
            <a:endParaRPr lang="en-US" sz="1200" dirty="0"/>
          </a:p>
        </p:txBody>
      </p:sp>
      <p:sp>
        <p:nvSpPr>
          <p:cNvPr id="4" name="Text 1">
            <a:extLst>
              <a:ext uri="{FF2B5EF4-FFF2-40B4-BE49-F238E27FC236}">
                <a16:creationId xmlns:a16="http://schemas.microsoft.com/office/drawing/2014/main" id="{494FE826-5D2B-5E3A-DC1F-276AC8EE37A7}"/>
              </a:ext>
            </a:extLst>
          </p:cNvPr>
          <p:cNvSpPr>
            <a:spLocks noGrp="1"/>
          </p:cNvSpPr>
          <p:nvPr>
            <p:ph type="title"/>
          </p:nvPr>
        </p:nvSpPr>
        <p:spPr>
          <a:xfrm>
            <a:off x="2265719" y="731520"/>
            <a:ext cx="7660256" cy="502920"/>
          </a:xfrm>
          <a:prstGeom prst="rect">
            <a:avLst/>
          </a:prstGeom>
          <a:noFill/>
          <a:ln/>
        </p:spPr>
        <p:txBody>
          <a:bodyPr wrap="square" lIns="0" tIns="0" rIns="0" bIns="0" rtlCol="0" anchor="t">
            <a:normAutofit/>
          </a:bodyPr>
          <a:lstStyle/>
          <a:p>
            <a:pPr marL="0" indent="0" algn="l">
              <a:lnSpc>
                <a:spcPts val="2989"/>
              </a:lnSpc>
              <a:buNone/>
            </a:pPr>
            <a:r>
              <a:rPr lang="en-US" sz="2600" b="1" i="0" kern="0" spc="-50" dirty="0">
                <a:solidFill>
                  <a:srgbClr val="0B2E5E"/>
                </a:solidFill>
                <a:latin typeface="Lexend" pitchFamily="34" charset="0"/>
                <a:ea typeface="Lexend" pitchFamily="34" charset="-122"/>
                <a:cs typeface="Lexend" pitchFamily="34" charset="-120"/>
              </a:rPr>
              <a:t>2 · You think first</a:t>
            </a:r>
            <a:endParaRPr lang="en-US" sz="2600" dirty="0"/>
          </a:p>
        </p:txBody>
      </p:sp>
      <p:pic>
        <p:nvPicPr>
          <p:cNvPr id="14" name="Picture 13">
            <a:extLst>
              <a:ext uri="{FF2B5EF4-FFF2-40B4-BE49-F238E27FC236}">
                <a16:creationId xmlns:a16="http://schemas.microsoft.com/office/drawing/2014/main" id="{CF45F70E-2074-675B-E5D3-4061F41EE063}"/>
              </a:ext>
            </a:extLst>
          </p:cNvPr>
          <p:cNvPicPr>
            <a:picLocks noChangeAspect="1"/>
          </p:cNvPicPr>
          <p:nvPr/>
        </p:nvPicPr>
        <p:blipFill>
          <a:blip r:embed="rId4"/>
          <a:stretch>
            <a:fillRect/>
          </a:stretch>
        </p:blipFill>
        <p:spPr>
          <a:xfrm>
            <a:off x="2265719" y="1417320"/>
            <a:ext cx="7660256" cy="5074920"/>
          </a:xfrm>
          <a:prstGeom prst="roundRect">
            <a:avLst>
              <a:gd name="adj" fmla="val 2500"/>
            </a:avLst>
          </a:prstGeom>
          <a:ln w="9525">
            <a:solidFill>
              <a:srgbClr val="D6E6F2"/>
            </a:solidFill>
          </a:ln>
          <a:effectLst>
            <a:outerShdw blurRad="457200" dist="152400" dir="5400000" algn="t" rotWithShape="0">
              <a:srgbClr val="0B2E5E">
                <a:alpha val="16000"/>
              </a:srgbClr>
            </a:outerShdw>
          </a:effectLst>
        </p:spPr>
      </p:pic>
    </p:spTree>
    <p:extLst>
      <p:ext uri="{BB962C8B-B14F-4D97-AF65-F5344CB8AC3E}">
        <p14:creationId xmlns:p14="http://schemas.microsoft.com/office/powerpoint/2010/main" val="1282101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BFE"/>
        </a:solidFill>
        <a:effectLst/>
      </p:bgPr>
    </p:bg>
    <p:spTree>
      <p:nvGrpSpPr>
        <p:cNvPr id="1" name="">
          <a:extLst>
            <a:ext uri="{FF2B5EF4-FFF2-40B4-BE49-F238E27FC236}">
              <a16:creationId xmlns:a16="http://schemas.microsoft.com/office/drawing/2014/main" id="{BC07C611-6F23-6E39-C990-2063BA9C1228}"/>
            </a:ext>
          </a:extLst>
        </p:cNvPr>
        <p:cNvGrpSpPr/>
        <p:nvPr/>
      </p:nvGrpSpPr>
      <p:grpSpPr>
        <a:xfrm>
          <a:off x="0" y="0"/>
          <a:ext cx="0" cy="0"/>
          <a:chOff x="0" y="0"/>
          <a:chExt cx="0" cy="0"/>
        </a:xfrm>
      </p:grpSpPr>
      <p:pic>
        <p:nvPicPr>
          <p:cNvPr id="2" name="Image 0">
            <a:extLst>
              <a:ext uri="{FF2B5EF4-FFF2-40B4-BE49-F238E27FC236}">
                <a16:creationId xmlns:a16="http://schemas.microsoft.com/office/drawing/2014/main" id="{11BBF394-6C03-055D-F911-F8AF5BD44D10}"/>
              </a:ext>
            </a:extLst>
          </p:cNvPr>
          <p:cNvPicPr>
            <a:picLocks noChangeAspect="1"/>
          </p:cNvPicPr>
          <p:nvPr/>
        </p:nvPicPr>
        <p:blipFill>
          <a:blip r:embed="rId3"/>
          <a:srcRect/>
          <a:stretch/>
        </p:blipFill>
        <p:spPr>
          <a:xfrm>
            <a:off x="0" y="0"/>
            <a:ext cx="12192000" cy="6858000"/>
          </a:xfrm>
          <a:prstGeom prst="rect">
            <a:avLst/>
          </a:prstGeom>
        </p:spPr>
      </p:pic>
      <p:sp>
        <p:nvSpPr>
          <p:cNvPr id="3" name="Text 0">
            <a:extLst>
              <a:ext uri="{FF2B5EF4-FFF2-40B4-BE49-F238E27FC236}">
                <a16:creationId xmlns:a16="http://schemas.microsoft.com/office/drawing/2014/main" id="{459ADE1B-3FD5-ADCF-2B5C-9142FA389816}"/>
              </a:ext>
            </a:extLst>
          </p:cNvPr>
          <p:cNvSpPr/>
          <p:nvPr/>
        </p:nvSpPr>
        <p:spPr>
          <a:xfrm>
            <a:off x="2192062" y="457200"/>
            <a:ext cx="548640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Live demo</a:t>
            </a:r>
            <a:endParaRPr lang="en-US" sz="1200" dirty="0"/>
          </a:p>
        </p:txBody>
      </p:sp>
      <p:sp>
        <p:nvSpPr>
          <p:cNvPr id="4" name="Text 1">
            <a:extLst>
              <a:ext uri="{FF2B5EF4-FFF2-40B4-BE49-F238E27FC236}">
                <a16:creationId xmlns:a16="http://schemas.microsoft.com/office/drawing/2014/main" id="{96DC0E8D-AF0A-7F40-072E-D6E4EB08292D}"/>
              </a:ext>
            </a:extLst>
          </p:cNvPr>
          <p:cNvSpPr>
            <a:spLocks noGrp="1"/>
          </p:cNvSpPr>
          <p:nvPr>
            <p:ph type="title"/>
          </p:nvPr>
        </p:nvSpPr>
        <p:spPr>
          <a:xfrm>
            <a:off x="2192062" y="731520"/>
            <a:ext cx="7807569" cy="502920"/>
          </a:xfrm>
          <a:prstGeom prst="rect">
            <a:avLst/>
          </a:prstGeom>
          <a:noFill/>
          <a:ln/>
        </p:spPr>
        <p:txBody>
          <a:bodyPr wrap="square" lIns="0" tIns="0" rIns="0" bIns="0" rtlCol="0" anchor="t">
            <a:normAutofit/>
          </a:bodyPr>
          <a:lstStyle/>
          <a:p>
            <a:pPr marL="0" indent="0" algn="l">
              <a:lnSpc>
                <a:spcPts val="2989"/>
              </a:lnSpc>
              <a:buNone/>
            </a:pPr>
            <a:r>
              <a:rPr lang="en-US" sz="2600" b="1" i="0" kern="0" spc="-50" dirty="0">
                <a:solidFill>
                  <a:srgbClr val="0B2E5E"/>
                </a:solidFill>
                <a:latin typeface="Lexend" pitchFamily="34" charset="0"/>
                <a:ea typeface="Lexend" pitchFamily="34" charset="-122"/>
                <a:cs typeface="Lexend" pitchFamily="34" charset="-120"/>
              </a:rPr>
              <a:t>3 · Evidence, then one tip</a:t>
            </a:r>
            <a:endParaRPr lang="en-US" sz="2600" dirty="0"/>
          </a:p>
        </p:txBody>
      </p:sp>
      <p:pic>
        <p:nvPicPr>
          <p:cNvPr id="13" name="Picture 12">
            <a:extLst>
              <a:ext uri="{FF2B5EF4-FFF2-40B4-BE49-F238E27FC236}">
                <a16:creationId xmlns:a16="http://schemas.microsoft.com/office/drawing/2014/main" id="{C9C60153-BE4C-82CB-4D1D-18232BFFB544}"/>
              </a:ext>
            </a:extLst>
          </p:cNvPr>
          <p:cNvPicPr>
            <a:picLocks noChangeAspect="1"/>
          </p:cNvPicPr>
          <p:nvPr/>
        </p:nvPicPr>
        <p:blipFill>
          <a:blip r:embed="rId4"/>
          <a:stretch>
            <a:fillRect/>
          </a:stretch>
        </p:blipFill>
        <p:spPr>
          <a:xfrm>
            <a:off x="2192062" y="1417320"/>
            <a:ext cx="7807569" cy="5074920"/>
          </a:xfrm>
          <a:prstGeom prst="roundRect">
            <a:avLst>
              <a:gd name="adj" fmla="val 2500"/>
            </a:avLst>
          </a:prstGeom>
          <a:ln w="9525">
            <a:solidFill>
              <a:srgbClr val="D6E6F2"/>
            </a:solidFill>
          </a:ln>
          <a:effectLst>
            <a:outerShdw blurRad="457200" dist="152400" dir="5400000" algn="t" rotWithShape="0">
              <a:srgbClr val="0B2E5E">
                <a:alpha val="16000"/>
              </a:srgbClr>
            </a:outerShdw>
          </a:effectLst>
        </p:spPr>
      </p:pic>
    </p:spTree>
    <p:extLst>
      <p:ext uri="{BB962C8B-B14F-4D97-AF65-F5344CB8AC3E}">
        <p14:creationId xmlns:p14="http://schemas.microsoft.com/office/powerpoint/2010/main" val="4194800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E"/>
        </a:solidFill>
        <a:effectLst/>
      </p:bgPr>
    </p:bg>
    <p:spTree>
      <p:nvGrpSpPr>
        <p:cNvPr id="1" name="">
          <a:extLst>
            <a:ext uri="{FF2B5EF4-FFF2-40B4-BE49-F238E27FC236}">
              <a16:creationId xmlns:a16="http://schemas.microsoft.com/office/drawing/2014/main" id="{1F2DC296-8EC9-5283-87B9-4B548021A2DA}"/>
            </a:ext>
          </a:extLst>
        </p:cNvPr>
        <p:cNvGrpSpPr/>
        <p:nvPr/>
      </p:nvGrpSpPr>
      <p:grpSpPr>
        <a:xfrm>
          <a:off x="0" y="0"/>
          <a:ext cx="0" cy="0"/>
          <a:chOff x="0" y="0"/>
          <a:chExt cx="0" cy="0"/>
        </a:xfrm>
      </p:grpSpPr>
      <p:pic>
        <p:nvPicPr>
          <p:cNvPr id="2" name="Image 0">
            <a:extLst>
              <a:ext uri="{FF2B5EF4-FFF2-40B4-BE49-F238E27FC236}">
                <a16:creationId xmlns:a16="http://schemas.microsoft.com/office/drawing/2014/main" id="{57A4C50C-35C1-674E-A232-A9A7AF75A9A4}"/>
              </a:ext>
            </a:extLst>
          </p:cNvPr>
          <p:cNvPicPr>
            <a:picLocks noChangeAspect="1"/>
          </p:cNvPicPr>
          <p:nvPr/>
        </p:nvPicPr>
        <p:blipFill>
          <a:blip r:embed="rId3"/>
          <a:srcRect/>
          <a:stretch/>
        </p:blipFill>
        <p:spPr>
          <a:xfrm>
            <a:off x="0" y="0"/>
            <a:ext cx="12192000" cy="6858000"/>
          </a:xfrm>
          <a:prstGeom prst="rect">
            <a:avLst/>
          </a:prstGeom>
        </p:spPr>
      </p:pic>
      <p:sp>
        <p:nvSpPr>
          <p:cNvPr id="3" name="Text 0">
            <a:extLst>
              <a:ext uri="{FF2B5EF4-FFF2-40B4-BE49-F238E27FC236}">
                <a16:creationId xmlns:a16="http://schemas.microsoft.com/office/drawing/2014/main" id="{E88A6CB9-F4B9-C9BF-0F4D-713DC09A1242}"/>
              </a:ext>
            </a:extLst>
          </p:cNvPr>
          <p:cNvSpPr/>
          <p:nvPr/>
        </p:nvSpPr>
        <p:spPr>
          <a:xfrm>
            <a:off x="1057449" y="457200"/>
            <a:ext cx="548640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Our sources</a:t>
            </a:r>
            <a:endParaRPr lang="en-US" sz="1200" dirty="0"/>
          </a:p>
        </p:txBody>
      </p:sp>
      <p:sp>
        <p:nvSpPr>
          <p:cNvPr id="4" name="Text 1">
            <a:extLst>
              <a:ext uri="{FF2B5EF4-FFF2-40B4-BE49-F238E27FC236}">
                <a16:creationId xmlns:a16="http://schemas.microsoft.com/office/drawing/2014/main" id="{F7E4668A-A507-EAB8-1D99-22FCE74D4E83}"/>
              </a:ext>
            </a:extLst>
          </p:cNvPr>
          <p:cNvSpPr>
            <a:spLocks noGrp="1"/>
          </p:cNvSpPr>
          <p:nvPr>
            <p:ph type="title"/>
          </p:nvPr>
        </p:nvSpPr>
        <p:spPr>
          <a:xfrm>
            <a:off x="1057449" y="731520"/>
            <a:ext cx="10076797" cy="502920"/>
          </a:xfrm>
          <a:prstGeom prst="rect">
            <a:avLst/>
          </a:prstGeom>
          <a:noFill/>
          <a:ln/>
        </p:spPr>
        <p:txBody>
          <a:bodyPr wrap="square" lIns="0" tIns="0" rIns="0" bIns="0" rtlCol="0" anchor="t">
            <a:normAutofit/>
          </a:bodyPr>
          <a:lstStyle/>
          <a:p>
            <a:pPr marL="0" indent="0" algn="l">
              <a:lnSpc>
                <a:spcPts val="2989"/>
              </a:lnSpc>
              <a:buNone/>
            </a:pPr>
            <a:r>
              <a:rPr lang="en-US" sz="2600" b="1" i="0" kern="0" spc="-50" dirty="0">
                <a:solidFill>
                  <a:srgbClr val="0B2E5E"/>
                </a:solidFill>
                <a:latin typeface="Lexend" pitchFamily="34" charset="0"/>
                <a:ea typeface="Lexend" pitchFamily="34" charset="-122"/>
                <a:cs typeface="Lexend" pitchFamily="34" charset="-120"/>
              </a:rPr>
              <a:t>13 named fact-checkers. One vote each.</a:t>
            </a:r>
            <a:endParaRPr lang="en-US" sz="2600" dirty="0"/>
          </a:p>
        </p:txBody>
      </p:sp>
      <p:pic>
        <p:nvPicPr>
          <p:cNvPr id="14" name="Picture 13">
            <a:extLst>
              <a:ext uri="{FF2B5EF4-FFF2-40B4-BE49-F238E27FC236}">
                <a16:creationId xmlns:a16="http://schemas.microsoft.com/office/drawing/2014/main" id="{76A890B4-DDF3-CCE1-954B-8FDD720F787B}"/>
              </a:ext>
            </a:extLst>
          </p:cNvPr>
          <p:cNvPicPr>
            <a:picLocks noChangeAspect="1"/>
          </p:cNvPicPr>
          <p:nvPr/>
        </p:nvPicPr>
        <p:blipFill>
          <a:blip r:embed="rId4"/>
          <a:srcRect t="16000"/>
          <a:stretch>
            <a:fillRect/>
          </a:stretch>
        </p:blipFill>
        <p:spPr>
          <a:xfrm>
            <a:off x="1057449" y="1463040"/>
            <a:ext cx="10076797" cy="4983480"/>
          </a:xfrm>
          <a:prstGeom prst="roundRect">
            <a:avLst>
              <a:gd name="adj" fmla="val 3000"/>
            </a:avLst>
          </a:prstGeom>
          <a:ln w="9525">
            <a:solidFill>
              <a:srgbClr val="D6E6F2"/>
            </a:solidFill>
          </a:ln>
          <a:effectLst>
            <a:outerShdw blurRad="457200" dist="152400" dir="5400000" algn="t" rotWithShape="0">
              <a:srgbClr val="0B2E5E">
                <a:alpha val="16000"/>
              </a:srgbClr>
            </a:outerShdw>
          </a:effectLst>
        </p:spPr>
      </p:pic>
    </p:spTree>
    <p:extLst>
      <p:ext uri="{BB962C8B-B14F-4D97-AF65-F5344CB8AC3E}">
        <p14:creationId xmlns:p14="http://schemas.microsoft.com/office/powerpoint/2010/main" val="3382052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BFE"/>
        </a:solidFill>
        <a:effectLst/>
      </p:bgPr>
    </p:bg>
    <p:spTree>
      <p:nvGrpSpPr>
        <p:cNvPr id="1" name="">
          <a:extLst>
            <a:ext uri="{FF2B5EF4-FFF2-40B4-BE49-F238E27FC236}">
              <a16:creationId xmlns:a16="http://schemas.microsoft.com/office/drawing/2014/main" id="{B93C9DF2-98F4-D209-F5E3-1D7530922CFF}"/>
            </a:ext>
          </a:extLst>
        </p:cNvPr>
        <p:cNvGrpSpPr/>
        <p:nvPr/>
      </p:nvGrpSpPr>
      <p:grpSpPr>
        <a:xfrm>
          <a:off x="0" y="0"/>
          <a:ext cx="0" cy="0"/>
          <a:chOff x="0" y="0"/>
          <a:chExt cx="0" cy="0"/>
        </a:xfrm>
      </p:grpSpPr>
      <p:pic>
        <p:nvPicPr>
          <p:cNvPr id="2" name="Image 0">
            <a:extLst>
              <a:ext uri="{FF2B5EF4-FFF2-40B4-BE49-F238E27FC236}">
                <a16:creationId xmlns:a16="http://schemas.microsoft.com/office/drawing/2014/main" id="{022C85ED-04BA-2702-33A0-B2188F4AC8BF}"/>
              </a:ext>
            </a:extLst>
          </p:cNvPr>
          <p:cNvPicPr>
            <a:picLocks noChangeAspect="1"/>
          </p:cNvPicPr>
          <p:nvPr/>
        </p:nvPicPr>
        <p:blipFill>
          <a:blip r:embed="rId3"/>
          <a:srcRect/>
          <a:stretch/>
        </p:blipFill>
        <p:spPr>
          <a:xfrm>
            <a:off x="0" y="0"/>
            <a:ext cx="12192000" cy="6858000"/>
          </a:xfrm>
          <a:prstGeom prst="rect">
            <a:avLst/>
          </a:prstGeom>
        </p:spPr>
      </p:pic>
      <p:sp>
        <p:nvSpPr>
          <p:cNvPr id="3" name="Text 0">
            <a:extLst>
              <a:ext uri="{FF2B5EF4-FFF2-40B4-BE49-F238E27FC236}">
                <a16:creationId xmlns:a16="http://schemas.microsoft.com/office/drawing/2014/main" id="{5E55EB1D-1D7C-4D12-6FD3-E25D5656434C}"/>
              </a:ext>
            </a:extLst>
          </p:cNvPr>
          <p:cNvSpPr/>
          <p:nvPr/>
        </p:nvSpPr>
        <p:spPr>
          <a:xfrm>
            <a:off x="1057449" y="457200"/>
            <a:ext cx="5486400" cy="23774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Our sources</a:t>
            </a:r>
            <a:endParaRPr lang="en-US" sz="1200" dirty="0"/>
          </a:p>
        </p:txBody>
      </p:sp>
      <p:sp>
        <p:nvSpPr>
          <p:cNvPr id="4" name="Text 1">
            <a:extLst>
              <a:ext uri="{FF2B5EF4-FFF2-40B4-BE49-F238E27FC236}">
                <a16:creationId xmlns:a16="http://schemas.microsoft.com/office/drawing/2014/main" id="{752491B9-5359-C610-20AC-D2388BEF3337}"/>
              </a:ext>
            </a:extLst>
          </p:cNvPr>
          <p:cNvSpPr>
            <a:spLocks noGrp="1"/>
          </p:cNvSpPr>
          <p:nvPr>
            <p:ph type="title"/>
          </p:nvPr>
        </p:nvSpPr>
        <p:spPr>
          <a:xfrm>
            <a:off x="1057449" y="731520"/>
            <a:ext cx="10076797" cy="502920"/>
          </a:xfrm>
          <a:prstGeom prst="rect">
            <a:avLst/>
          </a:prstGeom>
          <a:noFill/>
          <a:ln/>
        </p:spPr>
        <p:txBody>
          <a:bodyPr wrap="square" lIns="0" tIns="0" rIns="0" bIns="0" rtlCol="0" anchor="t">
            <a:normAutofit/>
          </a:bodyPr>
          <a:lstStyle/>
          <a:p>
            <a:pPr marL="0" indent="0" algn="l">
              <a:lnSpc>
                <a:spcPts val="2989"/>
              </a:lnSpc>
              <a:buNone/>
            </a:pPr>
            <a:r>
              <a:rPr lang="en-US" sz="2600" b="1" i="0" kern="0" spc="-50" dirty="0">
                <a:solidFill>
                  <a:srgbClr val="0B2E5E"/>
                </a:solidFill>
                <a:latin typeface="Lexend" pitchFamily="34" charset="0"/>
                <a:ea typeface="Lexend" pitchFamily="34" charset="-122"/>
                <a:cs typeface="Lexend" pitchFamily="34" charset="-120"/>
              </a:rPr>
              <a:t>13 named fact-checkers. One vote each.</a:t>
            </a:r>
            <a:endParaRPr lang="en-US" sz="2600" dirty="0"/>
          </a:p>
        </p:txBody>
      </p:sp>
      <p:pic>
        <p:nvPicPr>
          <p:cNvPr id="8" name="Picture 7">
            <a:extLst>
              <a:ext uri="{FF2B5EF4-FFF2-40B4-BE49-F238E27FC236}">
                <a16:creationId xmlns:a16="http://schemas.microsoft.com/office/drawing/2014/main" id="{71D56094-8AD2-C34F-E7A8-7AFFA38272A9}"/>
              </a:ext>
            </a:extLst>
          </p:cNvPr>
          <p:cNvPicPr>
            <a:picLocks noChangeAspect="1"/>
          </p:cNvPicPr>
          <p:nvPr/>
        </p:nvPicPr>
        <p:blipFill>
          <a:blip r:embed="rId4"/>
          <a:stretch>
            <a:fillRect/>
          </a:stretch>
        </p:blipFill>
        <p:spPr>
          <a:xfrm>
            <a:off x="648433" y="1152144"/>
            <a:ext cx="9652283" cy="5429409"/>
          </a:xfrm>
          <a:prstGeom prst="rect">
            <a:avLst/>
          </a:prstGeom>
        </p:spPr>
      </p:pic>
    </p:spTree>
    <p:extLst>
      <p:ext uri="{BB962C8B-B14F-4D97-AF65-F5344CB8AC3E}">
        <p14:creationId xmlns:p14="http://schemas.microsoft.com/office/powerpoint/2010/main" val="1761698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7FBFE"/>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2415580"/>
            <a:ext cx="405511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Built for this challenge</a:t>
            </a:r>
            <a:endParaRPr lang="en-US" sz="1200" dirty="0"/>
          </a:p>
        </p:txBody>
      </p:sp>
      <p:sp>
        <p:nvSpPr>
          <p:cNvPr id="4" name="Text 1"/>
          <p:cNvSpPr>
            <a:spLocks noGrp="1"/>
          </p:cNvSpPr>
          <p:nvPr>
            <p:ph type="title"/>
          </p:nvPr>
        </p:nvSpPr>
        <p:spPr>
          <a:xfrm>
            <a:off x="812800" y="2730500"/>
            <a:ext cx="4055110" cy="1534071"/>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0B2E5E"/>
                </a:solidFill>
                <a:latin typeface="Lexend" pitchFamily="34" charset="0"/>
                <a:ea typeface="Lexend" pitchFamily="34" charset="-122"/>
                <a:cs typeface="Lexend" pitchFamily="34" charset="-120"/>
              </a:rPr>
              <a:t>The AI only reads. You decide.</a:t>
            </a:r>
            <a:endParaRPr lang="en-US" sz="3600" dirty="0"/>
          </a:p>
        </p:txBody>
      </p:sp>
      <p:sp>
        <p:nvSpPr>
          <p:cNvPr id="5" name="Text 2"/>
          <p:cNvSpPr/>
          <p:nvPr/>
        </p:nvSpPr>
        <p:spPr>
          <a:xfrm>
            <a:off x="5359400" y="2009229"/>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4FC3F7"/>
          </a:solidFill>
          <a:ln/>
        </p:spPr>
        <p:txBody>
          <a:bodyPr wrap="square" lIns="0" tIns="0" rIns="0" bIns="0" rtlCol="0" anchor="t">
            <a:normAutofit/>
          </a:bodyPr>
          <a:lstStyle/>
          <a:p>
            <a:pPr marL="0" indent="0" algn="ctr">
              <a:lnSpc>
                <a:spcPts val="2796"/>
              </a:lnSpc>
              <a:buNone/>
            </a:pPr>
            <a:r>
              <a:rPr lang="en-US" sz="1200" b="1" dirty="0">
                <a:solidFill>
                  <a:srgbClr val="0B2E5E"/>
                </a:solidFill>
                <a:latin typeface="Inter" pitchFamily="34" charset="0"/>
                <a:ea typeface="Inter" pitchFamily="34" charset="-122"/>
                <a:cs typeface="Inter" pitchFamily="34" charset="-120"/>
              </a:rPr>
              <a:t>01</a:t>
            </a:r>
            <a:endParaRPr lang="en-US" sz="1200" dirty="0"/>
          </a:p>
        </p:txBody>
      </p:sp>
      <p:sp>
        <p:nvSpPr>
          <p:cNvPr id="6" name="Text 3"/>
          <p:cNvSpPr/>
          <p:nvPr/>
        </p:nvSpPr>
        <p:spPr>
          <a:xfrm>
            <a:off x="5892800" y="2009229"/>
            <a:ext cx="56509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2E5E"/>
                </a:solidFill>
                <a:latin typeface="Lexend" pitchFamily="34" charset="0"/>
                <a:ea typeface="Lexend" pitchFamily="34" charset="-122"/>
                <a:cs typeface="Lexend" pitchFamily="34" charset="-120"/>
              </a:rPr>
              <a:t>Keep humans engaged</a:t>
            </a:r>
            <a:endParaRPr lang="en-US" sz="1600" dirty="0"/>
          </a:p>
        </p:txBody>
      </p:sp>
      <p:sp>
        <p:nvSpPr>
          <p:cNvPr id="7" name="Text 4"/>
          <p:cNvSpPr/>
          <p:nvPr/>
        </p:nvSpPr>
        <p:spPr>
          <a:xfrm>
            <a:off x="5892800" y="2303859"/>
            <a:ext cx="56509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You think first. The verdict never comes before your own judgement.</a:t>
            </a:r>
            <a:endParaRPr lang="en-US" sz="1400" dirty="0"/>
          </a:p>
        </p:txBody>
      </p:sp>
      <p:sp>
        <p:nvSpPr>
          <p:cNvPr id="8" name="Text 5"/>
          <p:cNvSpPr/>
          <p:nvPr/>
        </p:nvSpPr>
        <p:spPr>
          <a:xfrm>
            <a:off x="5359400" y="305564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4FC3F7"/>
          </a:solidFill>
          <a:ln/>
        </p:spPr>
        <p:txBody>
          <a:bodyPr wrap="square" lIns="0" tIns="0" rIns="0" bIns="0" rtlCol="0" anchor="t">
            <a:normAutofit/>
          </a:bodyPr>
          <a:lstStyle/>
          <a:p>
            <a:pPr marL="0" indent="0" algn="ctr">
              <a:lnSpc>
                <a:spcPts val="2796"/>
              </a:lnSpc>
              <a:buNone/>
            </a:pPr>
            <a:r>
              <a:rPr lang="en-US" sz="1200" b="1" dirty="0">
                <a:solidFill>
                  <a:srgbClr val="0B2E5E"/>
                </a:solidFill>
                <a:latin typeface="Inter" pitchFamily="34" charset="0"/>
                <a:ea typeface="Inter" pitchFamily="34" charset="-122"/>
                <a:cs typeface="Inter" pitchFamily="34" charset="-120"/>
              </a:rPr>
              <a:t>02</a:t>
            </a:r>
            <a:endParaRPr lang="en-US" sz="1200" dirty="0"/>
          </a:p>
        </p:txBody>
      </p:sp>
      <p:sp>
        <p:nvSpPr>
          <p:cNvPr id="9" name="Text 6"/>
          <p:cNvSpPr/>
          <p:nvPr/>
        </p:nvSpPr>
        <p:spPr>
          <a:xfrm>
            <a:off x="5892800" y="3055640"/>
            <a:ext cx="56509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2E5E"/>
                </a:solidFill>
                <a:latin typeface="Lexend" pitchFamily="34" charset="0"/>
                <a:ea typeface="Lexend" pitchFamily="34" charset="-122"/>
                <a:cs typeface="Lexend" pitchFamily="34" charset="-120"/>
              </a:rPr>
              <a:t>Prevent skill degradation</a:t>
            </a:r>
            <a:endParaRPr lang="en-US" sz="1600" dirty="0"/>
          </a:p>
        </p:txBody>
      </p:sp>
      <p:sp>
        <p:nvSpPr>
          <p:cNvPr id="10" name="Text 7"/>
          <p:cNvSpPr/>
          <p:nvPr/>
        </p:nvSpPr>
        <p:spPr>
          <a:xfrm>
            <a:off x="5892800" y="3350270"/>
            <a:ext cx="56509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Every check ends with one tip you can reuse on your own.</a:t>
            </a:r>
            <a:endParaRPr lang="en-US" sz="1400" dirty="0"/>
          </a:p>
        </p:txBody>
      </p:sp>
      <p:sp>
        <p:nvSpPr>
          <p:cNvPr id="11" name="Text 8"/>
          <p:cNvSpPr/>
          <p:nvPr/>
        </p:nvSpPr>
        <p:spPr>
          <a:xfrm>
            <a:off x="5359400" y="385316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4FC3F7"/>
          </a:solidFill>
          <a:ln/>
        </p:spPr>
        <p:txBody>
          <a:bodyPr wrap="square" lIns="0" tIns="0" rIns="0" bIns="0" rtlCol="0" anchor="t">
            <a:normAutofit/>
          </a:bodyPr>
          <a:lstStyle/>
          <a:p>
            <a:pPr marL="0" indent="0" algn="ctr">
              <a:lnSpc>
                <a:spcPts val="2796"/>
              </a:lnSpc>
              <a:buNone/>
            </a:pPr>
            <a:r>
              <a:rPr lang="en-US" sz="1200" b="1" dirty="0">
                <a:solidFill>
                  <a:srgbClr val="0B2E5E"/>
                </a:solidFill>
                <a:latin typeface="Inter" pitchFamily="34" charset="0"/>
                <a:ea typeface="Inter" pitchFamily="34" charset="-122"/>
                <a:cs typeface="Inter" pitchFamily="34" charset="-120"/>
              </a:rPr>
              <a:t>03</a:t>
            </a:r>
            <a:endParaRPr lang="en-US" sz="1200" dirty="0"/>
          </a:p>
        </p:txBody>
      </p:sp>
      <p:sp>
        <p:nvSpPr>
          <p:cNvPr id="12" name="Text 9"/>
          <p:cNvSpPr/>
          <p:nvPr/>
        </p:nvSpPr>
        <p:spPr>
          <a:xfrm>
            <a:off x="5892800" y="3853160"/>
            <a:ext cx="56509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2E5E"/>
                </a:solidFill>
                <a:latin typeface="Lexend" pitchFamily="34" charset="0"/>
                <a:ea typeface="Lexend" pitchFamily="34" charset="-122"/>
                <a:cs typeface="Lexend" pitchFamily="34" charset="-120"/>
              </a:rPr>
              <a:t>Build trustworthy AI</a:t>
            </a:r>
            <a:endParaRPr lang="en-US" sz="1600" dirty="0"/>
          </a:p>
        </p:txBody>
      </p:sp>
      <p:sp>
        <p:nvSpPr>
          <p:cNvPr id="13" name="Text 10"/>
          <p:cNvSpPr/>
          <p:nvPr/>
        </p:nvSpPr>
        <p:spPr>
          <a:xfrm>
            <a:off x="5892800" y="4147790"/>
            <a:ext cx="56509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Every quote is matched against the real article. Made-up quotes are thrown out and shown.</a:t>
            </a:r>
            <a:endParaRPr lang="en-US" sz="14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B82"/>
                </a:solidFill>
                <a:latin typeface="Inter" pitchFamily="34" charset="0"/>
                <a:ea typeface="Inter" pitchFamily="34" charset="-122"/>
                <a:cs typeface="Inter" pitchFamily="34" charset="-120"/>
              </a:rPr>
              <a:t>Nothing you send is stored · Repeat checks need zero AI calls · Small open model: IBM Granite on watsonx</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7FBFE"/>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What’s next</a:t>
            </a:r>
            <a:endParaRPr lang="en-US" sz="1200" dirty="0"/>
          </a:p>
        </p:txBody>
      </p:sp>
      <p:sp>
        <p:nvSpPr>
          <p:cNvPr id="4" name="Text 1"/>
          <p:cNvSpPr>
            <a:spLocks noGrp="1"/>
          </p:cNvSpPr>
          <p:nvPr>
            <p:ph type="title"/>
          </p:nvPr>
        </p:nvSpPr>
        <p:spPr>
          <a:xfrm>
            <a:off x="812800" y="11277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0B2E5E"/>
                </a:solidFill>
                <a:latin typeface="Lexend" pitchFamily="34" charset="0"/>
                <a:ea typeface="Lexend" pitchFamily="34" charset="-122"/>
                <a:cs typeface="Lexend" pitchFamily="34" charset="-120"/>
              </a:rPr>
              <a:t>Beyond captions and pictures</a:t>
            </a:r>
            <a:endParaRPr lang="en-US" sz="3600" dirty="0"/>
          </a:p>
        </p:txBody>
      </p:sp>
      <p:sp>
        <p:nvSpPr>
          <p:cNvPr id="5" name="Shape 2"/>
          <p:cNvSpPr/>
          <p:nvPr/>
        </p:nvSpPr>
        <p:spPr>
          <a:xfrm>
            <a:off x="812800" y="1986211"/>
            <a:ext cx="3386634" cy="2169071"/>
          </a:xfrm>
          <a:prstGeom prst="roundRect">
            <a:avLst>
              <a:gd name="adj" fmla="val 7026"/>
            </a:avLst>
          </a:prstGeom>
          <a:solidFill>
            <a:srgbClr val="FFFFFF"/>
          </a:solidFill>
          <a:ln/>
          <a:effectLst>
            <a:outerShdw blurRad="254000" dist="76200" dir="5400000" algn="bl" rotWithShape="0">
              <a:srgbClr val="0B2E5E">
                <a:alpha val="8000"/>
              </a:srgbClr>
            </a:outerShdw>
          </a:effectLst>
        </p:spPr>
        <p:txBody>
          <a:bodyPr/>
          <a:lstStyle/>
          <a:p>
            <a:endParaRPr lang="sv-SE"/>
          </a:p>
        </p:txBody>
      </p:sp>
      <p:pic>
        <p:nvPicPr>
          <p:cNvPr id="6" name="Image 1" descr="Play"/>
          <p:cNvPicPr>
            <a:picLocks noChangeAspect="1"/>
          </p:cNvPicPr>
          <p:nvPr/>
        </p:nvPicPr>
        <p:blipFill>
          <a:blip r:embed="rId4"/>
          <a:srcRect/>
          <a:stretch/>
        </p:blipFill>
        <p:spPr>
          <a:xfrm>
            <a:off x="1066800" y="2240211"/>
            <a:ext cx="355600" cy="355600"/>
          </a:xfrm>
          <a:prstGeom prst="rect">
            <a:avLst/>
          </a:prstGeom>
        </p:spPr>
      </p:pic>
      <p:sp>
        <p:nvSpPr>
          <p:cNvPr id="7" name="Text 3"/>
          <p:cNvSpPr/>
          <p:nvPr/>
        </p:nvSpPr>
        <p:spPr>
          <a:xfrm>
            <a:off x="1066800" y="2722811"/>
            <a:ext cx="296499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2E5E"/>
                </a:solidFill>
                <a:latin typeface="Lexend" pitchFamily="34" charset="0"/>
                <a:ea typeface="Lexend" pitchFamily="34" charset="-122"/>
                <a:cs typeface="Lexend" pitchFamily="34" charset="-120"/>
              </a:rPr>
              <a:t>Videos</a:t>
            </a:r>
            <a:endParaRPr lang="en-US" sz="2000" dirty="0"/>
          </a:p>
        </p:txBody>
      </p:sp>
      <p:sp>
        <p:nvSpPr>
          <p:cNvPr id="8" name="Text 4"/>
          <p:cNvSpPr/>
          <p:nvPr/>
        </p:nvSpPr>
        <p:spPr>
          <a:xfrm>
            <a:off x="1066800" y="3154611"/>
            <a:ext cx="296499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Reels and short videos: what’s said and what’s shown on screen.</a:t>
            </a:r>
            <a:endParaRPr lang="en-US" sz="1400" dirty="0"/>
          </a:p>
        </p:txBody>
      </p:sp>
      <p:sp>
        <p:nvSpPr>
          <p:cNvPr id="9" name="Shape 5"/>
          <p:cNvSpPr/>
          <p:nvPr/>
        </p:nvSpPr>
        <p:spPr>
          <a:xfrm>
            <a:off x="4402634" y="1986211"/>
            <a:ext cx="3386683" cy="2169071"/>
          </a:xfrm>
          <a:prstGeom prst="roundRect">
            <a:avLst>
              <a:gd name="adj" fmla="val 7026"/>
            </a:avLst>
          </a:prstGeom>
          <a:solidFill>
            <a:srgbClr val="FFFFFF"/>
          </a:solidFill>
          <a:ln/>
          <a:effectLst>
            <a:outerShdw blurRad="254000" dist="76200" dir="5400000" algn="bl" rotWithShape="0">
              <a:srgbClr val="0B2E5E">
                <a:alpha val="8000"/>
              </a:srgbClr>
            </a:outerShdw>
          </a:effectLst>
        </p:spPr>
        <p:txBody>
          <a:bodyPr/>
          <a:lstStyle/>
          <a:p>
            <a:endParaRPr lang="sv-SE"/>
          </a:p>
        </p:txBody>
      </p:sp>
      <p:pic>
        <p:nvPicPr>
          <p:cNvPr id="10" name="Image 2" descr="Chat"/>
          <p:cNvPicPr>
            <a:picLocks noChangeAspect="1"/>
          </p:cNvPicPr>
          <p:nvPr/>
        </p:nvPicPr>
        <p:blipFill>
          <a:blip r:embed="rId5"/>
          <a:srcRect/>
          <a:stretch/>
        </p:blipFill>
        <p:spPr>
          <a:xfrm>
            <a:off x="4656634" y="2240211"/>
            <a:ext cx="355600" cy="355600"/>
          </a:xfrm>
          <a:prstGeom prst="rect">
            <a:avLst/>
          </a:prstGeom>
        </p:spPr>
      </p:pic>
      <p:sp>
        <p:nvSpPr>
          <p:cNvPr id="11" name="Text 6"/>
          <p:cNvSpPr/>
          <p:nvPr/>
        </p:nvSpPr>
        <p:spPr>
          <a:xfrm>
            <a:off x="4656634" y="2722811"/>
            <a:ext cx="296504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2E5E"/>
                </a:solidFill>
                <a:latin typeface="Lexend" pitchFamily="34" charset="0"/>
                <a:ea typeface="Lexend" pitchFamily="34" charset="-122"/>
                <a:cs typeface="Lexend" pitchFamily="34" charset="-120"/>
              </a:rPr>
              <a:t>Memos</a:t>
            </a:r>
            <a:endParaRPr lang="en-US" sz="2000" dirty="0"/>
          </a:p>
        </p:txBody>
      </p:sp>
      <p:sp>
        <p:nvSpPr>
          <p:cNvPr id="12" name="Text 7"/>
          <p:cNvSpPr/>
          <p:nvPr/>
        </p:nvSpPr>
        <p:spPr>
          <a:xfrm>
            <a:off x="4656634" y="3154611"/>
            <a:ext cx="2965044"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Voice memos forwarded in group chats, where rumours spread fastest.</a:t>
            </a:r>
            <a:endParaRPr lang="en-US" sz="1400" dirty="0"/>
          </a:p>
        </p:txBody>
      </p:sp>
      <p:sp>
        <p:nvSpPr>
          <p:cNvPr id="13" name="Shape 8"/>
          <p:cNvSpPr/>
          <p:nvPr/>
        </p:nvSpPr>
        <p:spPr>
          <a:xfrm>
            <a:off x="7992517" y="1986211"/>
            <a:ext cx="3386683" cy="2169071"/>
          </a:xfrm>
          <a:prstGeom prst="roundRect">
            <a:avLst>
              <a:gd name="adj" fmla="val 7026"/>
            </a:avLst>
          </a:prstGeom>
          <a:solidFill>
            <a:srgbClr val="FFFFFF"/>
          </a:solidFill>
          <a:ln/>
          <a:effectLst>
            <a:outerShdw blurRad="254000" dist="76200" dir="5400000" algn="bl" rotWithShape="0">
              <a:srgbClr val="0B2E5E">
                <a:alpha val="8000"/>
              </a:srgbClr>
            </a:outerShdw>
          </a:effectLst>
        </p:spPr>
        <p:txBody>
          <a:bodyPr/>
          <a:lstStyle/>
          <a:p>
            <a:endParaRPr lang="sv-SE"/>
          </a:p>
        </p:txBody>
      </p:sp>
      <p:pic>
        <p:nvPicPr>
          <p:cNvPr id="14" name="Image 3" descr="Globe"/>
          <p:cNvPicPr>
            <a:picLocks noChangeAspect="1"/>
          </p:cNvPicPr>
          <p:nvPr/>
        </p:nvPicPr>
        <p:blipFill>
          <a:blip r:embed="rId6"/>
          <a:srcRect/>
          <a:stretch/>
        </p:blipFill>
        <p:spPr>
          <a:xfrm>
            <a:off x="8246517" y="2240211"/>
            <a:ext cx="355600" cy="355600"/>
          </a:xfrm>
          <a:prstGeom prst="rect">
            <a:avLst/>
          </a:prstGeom>
        </p:spPr>
      </p:pic>
      <p:sp>
        <p:nvSpPr>
          <p:cNvPr id="15" name="Text 9"/>
          <p:cNvSpPr/>
          <p:nvPr/>
        </p:nvSpPr>
        <p:spPr>
          <a:xfrm>
            <a:off x="8246517" y="2722811"/>
            <a:ext cx="296504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B2E5E"/>
                </a:solidFill>
                <a:latin typeface="Lexend" pitchFamily="34" charset="0"/>
                <a:ea typeface="Lexend" pitchFamily="34" charset="-122"/>
                <a:cs typeface="Lexend" pitchFamily="34" charset="-120"/>
              </a:rPr>
              <a:t>Regional outlets</a:t>
            </a:r>
            <a:endParaRPr lang="en-US" sz="2000" dirty="0"/>
          </a:p>
        </p:txBody>
      </p:sp>
      <p:sp>
        <p:nvSpPr>
          <p:cNvPr id="16" name="Text 10"/>
          <p:cNvSpPr/>
          <p:nvPr/>
        </p:nvSpPr>
        <p:spPr>
          <a:xfrm>
            <a:off x="8246517" y="3154611"/>
            <a:ext cx="2965044"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4A63"/>
                </a:solidFill>
                <a:latin typeface="Inter" pitchFamily="34" charset="0"/>
                <a:ea typeface="Inter" pitchFamily="34" charset="-122"/>
                <a:cs typeface="Inter" pitchFamily="34" charset="-120"/>
              </a:rPr>
              <a:t>Local and non-English news outlets, so local claims get checked too.</a:t>
            </a:r>
            <a:endParaRPr lang="en-US" sz="1400" dirty="0"/>
          </a:p>
        </p:txBody>
      </p:sp>
      <p:sp>
        <p:nvSpPr>
          <p:cNvPr id="17" name="Shape 11"/>
          <p:cNvSpPr/>
          <p:nvPr/>
        </p:nvSpPr>
        <p:spPr>
          <a:xfrm>
            <a:off x="812800" y="4510881"/>
            <a:ext cx="10566400" cy="711200"/>
          </a:xfrm>
          <a:prstGeom prst="roundRect">
            <a:avLst>
              <a:gd name="adj" fmla="val 21429"/>
            </a:avLst>
          </a:prstGeom>
          <a:solidFill>
            <a:srgbClr val="0B2E5E"/>
          </a:solidFill>
          <a:ln/>
        </p:spPr>
        <p:txBody>
          <a:bodyPr/>
          <a:lstStyle/>
          <a:p>
            <a:endParaRPr lang="sv-SE"/>
          </a:p>
        </p:txBody>
      </p:sp>
      <p:pic>
        <p:nvPicPr>
          <p:cNvPr id="18" name="Image 4" descr="Chart"/>
          <p:cNvPicPr>
            <a:picLocks noChangeAspect="1"/>
          </p:cNvPicPr>
          <p:nvPr/>
        </p:nvPicPr>
        <p:blipFill>
          <a:blip r:embed="rId7"/>
          <a:srcRect/>
          <a:stretch/>
        </p:blipFill>
        <p:spPr>
          <a:xfrm>
            <a:off x="1117600" y="4714081"/>
            <a:ext cx="304800" cy="304800"/>
          </a:xfrm>
          <a:prstGeom prst="rect">
            <a:avLst/>
          </a:prstGeom>
        </p:spPr>
      </p:pic>
      <p:sp>
        <p:nvSpPr>
          <p:cNvPr id="19" name="Text 12"/>
          <p:cNvSpPr/>
          <p:nvPr/>
        </p:nvSpPr>
        <p:spPr>
          <a:xfrm>
            <a:off x="1600200" y="4737894"/>
            <a:ext cx="8854083"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FFFFF"/>
                </a:solidFill>
                <a:latin typeface="Inter" pitchFamily="34" charset="0"/>
                <a:ea typeface="Inter" pitchFamily="34" charset="-122"/>
                <a:cs typeface="Inter" pitchFamily="34" charset="-120"/>
              </a:rPr>
              <a:t>Our success metric:</a:t>
            </a:r>
            <a:r>
              <a:rPr lang="en-US" sz="1500" dirty="0">
                <a:solidFill>
                  <a:srgbClr val="FFFFFF"/>
                </a:solidFill>
                <a:latin typeface="Inter" pitchFamily="34" charset="0"/>
                <a:ea typeface="Inter" pitchFamily="34" charset="-122"/>
                <a:cs typeface="Inter" pitchFamily="34" charset="-120"/>
              </a:rPr>
              <a:t> your own judgement gets better over time. You need us less.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EAF4FA"/>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0" y="0"/>
            <a:ext cx="12192000" cy="6858000"/>
          </a:xfrm>
          <a:prstGeom prst="rect">
            <a:avLst/>
          </a:prstGeom>
        </p:spPr>
      </p:pic>
      <p:sp>
        <p:nvSpPr>
          <p:cNvPr id="3" name="Text 0"/>
          <p:cNvSpPr/>
          <p:nvPr/>
        </p:nvSpPr>
        <p:spPr>
          <a:xfrm>
            <a:off x="812800" y="21057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B2E5E"/>
                </a:solidFill>
                <a:latin typeface="Inter" pitchFamily="34" charset="0"/>
                <a:ea typeface="Inter" pitchFamily="34" charset="-122"/>
                <a:cs typeface="Inter" pitchFamily="34" charset="-120"/>
              </a:rPr>
              <a:t>rethink_bot</a:t>
            </a:r>
            <a:endParaRPr lang="en-US" sz="1200" dirty="0"/>
          </a:p>
        </p:txBody>
      </p:sp>
      <p:sp>
        <p:nvSpPr>
          <p:cNvPr id="4" name="Text 1"/>
          <p:cNvSpPr>
            <a:spLocks noGrp="1"/>
          </p:cNvSpPr>
          <p:nvPr>
            <p:ph type="title"/>
          </p:nvPr>
        </p:nvSpPr>
        <p:spPr>
          <a:xfrm>
            <a:off x="812800" y="2623840"/>
            <a:ext cx="9810750" cy="1518841"/>
          </a:xfrm>
          <a:prstGeom prst="rect">
            <a:avLst/>
          </a:prstGeom>
          <a:noFill/>
          <a:ln/>
        </p:spPr>
        <p:txBody>
          <a:bodyPr wrap="square" lIns="0" tIns="0" rIns="0" bIns="0" rtlCol="0" anchor="t">
            <a:normAutofit/>
          </a:bodyPr>
          <a:lstStyle/>
          <a:p>
            <a:pPr marL="0" indent="0" algn="l">
              <a:lnSpc>
                <a:spcPts val="5880"/>
              </a:lnSpc>
              <a:buNone/>
            </a:pPr>
            <a:r>
              <a:rPr lang="en-US" sz="5600" b="1" i="0" kern="0" spc="-100" dirty="0">
                <a:solidFill>
                  <a:srgbClr val="0B2E5E"/>
                </a:solidFill>
                <a:latin typeface="Lexend" pitchFamily="34" charset="0"/>
                <a:ea typeface="Lexend" pitchFamily="34" charset="-122"/>
                <a:cs typeface="Lexend" pitchFamily="34" charset="-120"/>
              </a:rPr>
              <a:t>A fact-checker that trains you to need it less.</a:t>
            </a:r>
            <a:endParaRPr lang="en-US" sz="5600" dirty="0"/>
          </a:p>
        </p:txBody>
      </p:sp>
      <p:sp>
        <p:nvSpPr>
          <p:cNvPr id="5" name="Text 2"/>
          <p:cNvSpPr/>
          <p:nvPr/>
        </p:nvSpPr>
        <p:spPr>
          <a:xfrm>
            <a:off x="812800" y="4422080"/>
            <a:ext cx="915670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1F7FB8"/>
                </a:solidFill>
                <a:latin typeface="Lexend" pitchFamily="34" charset="0"/>
                <a:ea typeface="Lexend" pitchFamily="34" charset="-122"/>
                <a:cs typeface="Lexend" pitchFamily="34" charset="-120"/>
              </a:rPr>
              <a:t>Earlier, most of you believed at least one fake. Next time, fewer will.</a:t>
            </a:r>
            <a:endParaRPr lang="en-US" sz="2000" dirty="0"/>
          </a:p>
        </p:txBody>
      </p:sp>
    </p:spTree>
  </p:cSld>
  <p:clrMapOvr>
    <a:masterClrMapping/>
  </p:clrMapOvr>
</p:sld>
</file>

<file path=ppt/theme/theme1.xml><?xml version="1.0" encoding="utf-8"?>
<a:theme xmlns:a="http://schemas.openxmlformats.org/drawingml/2006/main" name="rethink_bot – Pitch">
  <a:themeElements>
    <a:clrScheme name="rethink_bot – Pitch">
      <a:dk1>
        <a:srgbClr val="141413"/>
      </a:dk1>
      <a:lt1>
        <a:srgbClr val="F7FBFE"/>
      </a:lt1>
      <a:dk2>
        <a:srgbClr val="4D4E4E"/>
      </a:dk2>
      <a:lt2>
        <a:srgbClr val="E0E4E7"/>
      </a:lt2>
      <a:accent1>
        <a:srgbClr val="0B2E5E"/>
      </a:accent1>
      <a:accent2>
        <a:srgbClr val="4FC3F7"/>
      </a:accent2>
      <a:accent3>
        <a:srgbClr val="3A4A63"/>
      </a:accent3>
      <a:accent4>
        <a:srgbClr val="2C3E57"/>
      </a:accent4>
      <a:accent5>
        <a:srgbClr val="5B6B82"/>
      </a:accent5>
      <a:accent6>
        <a:srgbClr val="1F7FB8"/>
      </a:accent6>
      <a:hlink>
        <a:srgbClr val="0563C1"/>
      </a:hlink>
      <a:folHlink>
        <a:srgbClr val="954F72"/>
      </a:folHlink>
    </a:clrScheme>
    <a:fontScheme name="rethink_bot – Pitch">
      <a:majorFont>
        <a:latin typeface="Lexe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336279d-01bc-4d87-8762-f78295fa341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E7C5A167B266A647A6B92096BB178A1F" ma:contentTypeVersion="5" ma:contentTypeDescription="Ein neues Dokument erstellen." ma:contentTypeScope="" ma:versionID="1ab190fb60dbb21406e4f0be8c48b9f8">
  <xsd:schema xmlns:xsd="http://www.w3.org/2001/XMLSchema" xmlns:xs="http://www.w3.org/2001/XMLSchema" xmlns:p="http://schemas.microsoft.com/office/2006/metadata/properties" xmlns:ns3="c336279d-01bc-4d87-8762-f78295fa341d" targetNamespace="http://schemas.microsoft.com/office/2006/metadata/properties" ma:root="true" ma:fieldsID="a005ff9014ec6c23c73b4b3fc0cec645" ns3:_="">
    <xsd:import namespace="c336279d-01bc-4d87-8762-f78295fa341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36279d-01bc-4d87-8762-f78295fa341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68B6F4-C3F1-4AEA-A0C0-546D7A17F167}">
  <ds:schemaRefs>
    <ds:schemaRef ds:uri="http://purl.org/dc/terms/"/>
    <ds:schemaRef ds:uri="http://purl.org/dc/elements/1.1/"/>
    <ds:schemaRef ds:uri="http://schemas.microsoft.com/office/2006/documentManagement/types"/>
    <ds:schemaRef ds:uri="c336279d-01bc-4d87-8762-f78295fa341d"/>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A13B1BD-FE9D-4668-A462-AB36DB42A1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36279d-01bc-4d87-8762-f78295fa34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7E24B0-7A7A-4B81-A0D4-32B96DB3B7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22</TotalTime>
  <Words>2182</Words>
  <Application>Microsoft Office PowerPoint</Application>
  <PresentationFormat>Widescreen</PresentationFormat>
  <Paragraphs>108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Lexend</vt:lpstr>
      <vt:lpstr>Inter</vt:lpstr>
      <vt:lpstr>rethink_bot – Pitch</vt:lpstr>
      <vt:lpstr>rethink_bot</vt:lpstr>
      <vt:lpstr>Real or fake?</vt:lpstr>
      <vt:lpstr>All three were fake.</vt:lpstr>
      <vt:lpstr>News now lives where nobody checks it.</vt:lpstr>
      <vt:lpstr>Fact-checkers hand you a verdict. So you stop thinking.</vt:lpstr>
      <vt:lpstr>We flip it. You think first.</vt:lpstr>
      <vt:lpstr>1 · The extension spots red flags</vt:lpstr>
      <vt:lpstr>2 · You think first</vt:lpstr>
      <vt:lpstr>3 · Evidence, then one tip</vt:lpstr>
      <vt:lpstr>13 named fact-checkers. One vote each.</vt:lpstr>
      <vt:lpstr>13 named fact-checkers. One vote each.</vt:lpstr>
      <vt:lpstr>The AI only reads. You decide.</vt:lpstr>
      <vt:lpstr>Beyond captions and pictures</vt:lpstr>
      <vt:lpstr>A fact-checker that trains you to need it less.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rethink_bot – Pitch</dc:title>
  <dc:subject/>
  <dc:creator>Angelica Pippow</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dc:description>
  <cp:lastModifiedBy>Angelica Anna Eine Stridbeck Pippow</cp:lastModifiedBy>
  <cp:revision>5</cp:revision>
  <dcterms:created xsi:type="dcterms:W3CDTF">2026-10-24T14:01:11Z</dcterms:created>
  <dcterms:modified xsi:type="dcterms:W3CDTF">2026-10-24T14:29:17Z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0x010100E7C5A167B266A647A6B92096BB178A1F</vt:lpwstr>
  </property>
</Properties>
</file>